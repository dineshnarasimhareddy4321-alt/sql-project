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91" r:id="rId3"/>
    <p:sldId id="258" r:id="rId4"/>
    <p:sldId id="261" r:id="rId5"/>
    <p:sldId id="260" r:id="rId6"/>
    <p:sldId id="262" r:id="rId7"/>
    <p:sldId id="263" r:id="rId8"/>
    <p:sldId id="264" r:id="rId9"/>
    <p:sldId id="265" r:id="rId10"/>
    <p:sldId id="266" r:id="rId11"/>
    <p:sldId id="281" r:id="rId12"/>
    <p:sldId id="282" r:id="rId13"/>
    <p:sldId id="283" r:id="rId14"/>
    <p:sldId id="284" r:id="rId15"/>
    <p:sldId id="286" r:id="rId16"/>
    <p:sldId id="287" r:id="rId17"/>
    <p:sldId id="288" r:id="rId18"/>
    <p:sldId id="289" r:id="rId19"/>
    <p:sldId id="290" r:id="rId20"/>
    <p:sldId id="279" r:id="rId21"/>
    <p:sldId id="280" r:id="rId22"/>
    <p:sldId id="25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690"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dinesh-narasimha-reddy-6a201a26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8889"/>
            <a:ext cx="12190815" cy="6694098"/>
          </a:xfrm>
          <a:prstGeom prst="rect">
            <a:avLst/>
          </a:prstGeom>
          <a:noFill/>
          <a:ln>
            <a:noFill/>
          </a:ln>
        </p:spPr>
      </p:pic>
      <p:sp>
        <p:nvSpPr>
          <p:cNvPr id="99" name="Google Shape;99;p1"/>
          <p:cNvSpPr txBox="1"/>
          <p:nvPr/>
        </p:nvSpPr>
        <p:spPr>
          <a:xfrm>
            <a:off x="2325759" y="3429000"/>
            <a:ext cx="8321220" cy="98484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4000" b="1" i="0" u="none" strike="noStrike" cap="none" dirty="0">
                <a:solidFill>
                  <a:schemeClr val="accent1">
                    <a:lumMod val="50000"/>
                  </a:schemeClr>
                </a:solidFill>
                <a:latin typeface="Calibri"/>
                <a:ea typeface="Calibri"/>
                <a:cs typeface="Calibri"/>
                <a:sym typeface="Calibri"/>
              </a:rPr>
              <a:t>EMPLOYEE MANAGEMENT SYSTEM</a:t>
            </a:r>
            <a:endParaRPr sz="4000" b="1" i="0" u="none" strike="noStrike" cap="none" dirty="0">
              <a:solidFill>
                <a:schemeClr val="accent1">
                  <a:lumMod val="50000"/>
                </a:schemeClr>
              </a:solidFill>
              <a:latin typeface="Arial"/>
              <a:ea typeface="Arial"/>
              <a:cs typeface="Arial"/>
              <a:sym typeface="Arial"/>
            </a:endParaRPr>
          </a:p>
        </p:txBody>
      </p:sp>
      <p:pic>
        <p:nvPicPr>
          <p:cNvPr id="4" name="Picture 2" descr="🔥 People Business PowerPoint Background Download | CBEditz">
            <a:extLst>
              <a:ext uri="{FF2B5EF4-FFF2-40B4-BE49-F238E27FC236}">
                <a16:creationId xmlns:a16="http://schemas.microsoft.com/office/drawing/2014/main" id="{A45A4F74-44D8-47D0-8612-02BE24636392}"/>
              </a:ext>
            </a:extLst>
          </p:cNvPr>
          <p:cNvPicPr>
            <a:picLocks noChangeAspect="1" noChangeArrowheads="1"/>
          </p:cNvPicPr>
          <p:nvPr/>
        </p:nvPicPr>
        <p:blipFill>
          <a:blip r:embed="rId4">
            <a:alphaModFix amt="22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4D68F3-CBC7-EBCA-B0CE-A5DBAFC734BF}"/>
              </a:ext>
            </a:extLst>
          </p:cNvPr>
          <p:cNvPicPr>
            <a:picLocks noChangeAspect="1"/>
          </p:cNvPicPr>
          <p:nvPr/>
        </p:nvPicPr>
        <p:blipFill>
          <a:blip r:embed="rId2"/>
          <a:stretch>
            <a:fillRect/>
          </a:stretch>
        </p:blipFill>
        <p:spPr>
          <a:xfrm>
            <a:off x="0" y="0"/>
            <a:ext cx="12192000" cy="6857999"/>
          </a:xfrm>
          <a:prstGeom prst="rect">
            <a:avLst/>
          </a:prstGeom>
        </p:spPr>
      </p:pic>
      <p:sp>
        <p:nvSpPr>
          <p:cNvPr id="7" name="TextBox 6">
            <a:extLst>
              <a:ext uri="{FF2B5EF4-FFF2-40B4-BE49-F238E27FC236}">
                <a16:creationId xmlns:a16="http://schemas.microsoft.com/office/drawing/2014/main" id="{45D56C2A-C010-C946-F337-437D00635477}"/>
              </a:ext>
            </a:extLst>
          </p:cNvPr>
          <p:cNvSpPr txBox="1"/>
          <p:nvPr/>
        </p:nvSpPr>
        <p:spPr>
          <a:xfrm>
            <a:off x="212321" y="289316"/>
            <a:ext cx="6097656" cy="769441"/>
          </a:xfrm>
          <a:prstGeom prst="rect">
            <a:avLst/>
          </a:prstGeom>
          <a:noFill/>
        </p:spPr>
        <p:txBody>
          <a:bodyPr wrap="square">
            <a:spAutoFit/>
          </a:bodyPr>
          <a:lstStyle/>
          <a:p>
            <a:r>
              <a:rPr lang="en-US" sz="4400" dirty="0">
                <a:solidFill>
                  <a:srgbClr val="FF0000"/>
                </a:solidFill>
                <a:latin typeface="Calibri" panose="020F0502020204030204" pitchFamily="34" charset="0"/>
                <a:ea typeface="Calibri" panose="020F0502020204030204" pitchFamily="34" charset="0"/>
                <a:cs typeface="Calibri" panose="020F0502020204030204" pitchFamily="34" charset="0"/>
              </a:rPr>
              <a:t>About Me</a:t>
            </a:r>
          </a:p>
        </p:txBody>
      </p:sp>
      <p:sp>
        <p:nvSpPr>
          <p:cNvPr id="9" name="TextBox 8">
            <a:extLst>
              <a:ext uri="{FF2B5EF4-FFF2-40B4-BE49-F238E27FC236}">
                <a16:creationId xmlns:a16="http://schemas.microsoft.com/office/drawing/2014/main" id="{3AEECA0E-2AB8-F7FB-BD24-C13D8BF64791}"/>
              </a:ext>
            </a:extLst>
          </p:cNvPr>
          <p:cNvSpPr txBox="1"/>
          <p:nvPr/>
        </p:nvSpPr>
        <p:spPr>
          <a:xfrm>
            <a:off x="212321" y="1348073"/>
            <a:ext cx="6172200" cy="1200329"/>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Name : Marthala Dinesh Narasimha Reddy</a:t>
            </a:r>
          </a:p>
          <a:p>
            <a:r>
              <a:rPr lang="en-US" sz="2400" dirty="0">
                <a:latin typeface="Calibri" panose="020F0502020204030204" pitchFamily="34" charset="0"/>
                <a:ea typeface="Calibri" panose="020F0502020204030204" pitchFamily="34" charset="0"/>
                <a:cs typeface="Calibri" panose="020F0502020204030204" pitchFamily="34" charset="0"/>
              </a:rPr>
              <a:t>Background : CSE</a:t>
            </a:r>
          </a:p>
          <a:p>
            <a:r>
              <a:rPr lang="en-US" sz="2400" dirty="0">
                <a:latin typeface="Calibri" panose="020F0502020204030204" pitchFamily="34" charset="0"/>
                <a:ea typeface="Calibri" panose="020F0502020204030204" pitchFamily="34" charset="0"/>
                <a:cs typeface="Calibri" panose="020F0502020204030204" pitchFamily="34" charset="0"/>
              </a:rPr>
              <a:t>LinkedIn : </a:t>
            </a:r>
            <a:r>
              <a:rPr lang="en-US" sz="2400" dirty="0">
                <a:latin typeface="Calibri" panose="020F0502020204030204" pitchFamily="34" charset="0"/>
                <a:ea typeface="Calibri" panose="020F0502020204030204" pitchFamily="34" charset="0"/>
                <a:cs typeface="Calibri" panose="020F0502020204030204" pitchFamily="34" charset="0"/>
                <a:hlinkClick r:id="rId3"/>
              </a:rPr>
              <a:t>LinkedIn</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981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2" name="Picture 1">
            <a:extLst>
              <a:ext uri="{FF2B5EF4-FFF2-40B4-BE49-F238E27FC236}">
                <a16:creationId xmlns:a16="http://schemas.microsoft.com/office/drawing/2014/main" id="{D3D8082C-71E1-4170-83F3-6EDD4A9AA9E2}"/>
              </a:ext>
            </a:extLst>
          </p:cNvPr>
          <p:cNvPicPr>
            <a:picLocks noChangeAspect="1"/>
          </p:cNvPicPr>
          <p:nvPr/>
        </p:nvPicPr>
        <p:blipFill>
          <a:blip r:embed="rId3"/>
          <a:stretch>
            <a:fillRect/>
          </a:stretch>
        </p:blipFill>
        <p:spPr>
          <a:xfrm>
            <a:off x="0" y="0"/>
            <a:ext cx="12192000" cy="6857999"/>
          </a:xfrm>
          <a:prstGeom prst="rect">
            <a:avLst/>
          </a:prstGeom>
        </p:spPr>
      </p:pic>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INTRODCUTION</a:t>
            </a:r>
            <a:endParaRPr b="1" dirty="0">
              <a:solidFill>
                <a:srgbClr val="FF0000"/>
              </a:solidFill>
            </a:endParaRPr>
          </a:p>
        </p:txBody>
      </p:sp>
      <p:sp>
        <p:nvSpPr>
          <p:cNvPr id="111" name="Google Shape;111;p4"/>
          <p:cNvSpPr txBox="1">
            <a:spLocks noGrp="1"/>
          </p:cNvSpPr>
          <p:nvPr>
            <p:ph type="body" idx="1"/>
          </p:nvPr>
        </p:nvSpPr>
        <p:spPr>
          <a:xfrm>
            <a:off x="884575" y="1177823"/>
            <a:ext cx="10687313" cy="5065321"/>
          </a:xfrm>
          <a:prstGeom prst="rect">
            <a:avLst/>
          </a:prstGeom>
          <a:noFill/>
          <a:ln>
            <a:noFill/>
          </a:ln>
        </p:spPr>
        <p:txBody>
          <a:bodyPr spcFirstLastPara="1" wrap="square" lIns="91425" tIns="45700" rIns="91425" bIns="45700" anchor="t" anchorCtr="0">
            <a:normAutofit/>
          </a:bodyPr>
          <a:lstStyle/>
          <a:p>
            <a:pPr marL="25400" lvl="0" indent="0" algn="l" rtl="0">
              <a:lnSpc>
                <a:spcPct val="90000"/>
              </a:lnSpc>
              <a:spcBef>
                <a:spcPts val="1000"/>
              </a:spcBef>
              <a:spcAft>
                <a:spcPts val="0"/>
              </a:spcAft>
              <a:buSzPts val="2400"/>
              <a:buNone/>
            </a:pPr>
            <a:r>
              <a:rPr lang="en-US" sz="2000" dirty="0">
                <a:latin typeface="Times New Roman" panose="02020603050405020304" pitchFamily="18" charset="0"/>
                <a:cs typeface="Times New Roman" panose="02020603050405020304" pitchFamily="18" charset="0"/>
              </a:rPr>
              <a:t>The Employee Management System (EMS) is designed to streamline the management of employee data, job roles, and departmental information within an organization. This system allows for efficient tracking of employee details, job assignments, qualifications, and performance metrics. </a:t>
            </a:r>
          </a:p>
          <a:p>
            <a:pPr marL="25400" lvl="0" indent="0" algn="l" rtl="0">
              <a:lnSpc>
                <a:spcPct val="90000"/>
              </a:lnSpc>
              <a:spcBef>
                <a:spcPts val="1000"/>
              </a:spcBef>
              <a:spcAft>
                <a:spcPts val="0"/>
              </a:spcAft>
              <a:buSzPts val="2400"/>
              <a:buNone/>
            </a:pPr>
            <a:r>
              <a:rPr lang="en-US" sz="2000" b="1" dirty="0">
                <a:latin typeface="Times New Roman" panose="02020603050405020304" pitchFamily="18" charset="0"/>
                <a:cs typeface="Times New Roman" panose="02020603050405020304" pitchFamily="18" charset="0"/>
              </a:rPr>
              <a:t>Key domain knowledge elements for this system include :</a:t>
            </a:r>
          </a:p>
          <a:p>
            <a:pPr marL="368300">
              <a:buSzPts val="2400"/>
            </a:pPr>
            <a:r>
              <a:rPr lang="en-US" sz="2000" dirty="0">
                <a:latin typeface="Times New Roman" panose="02020603050405020304" pitchFamily="18" charset="0"/>
                <a:cs typeface="Times New Roman" panose="02020603050405020304" pitchFamily="18" charset="0"/>
              </a:rPr>
              <a:t>Employee Information Management</a:t>
            </a:r>
          </a:p>
          <a:p>
            <a:pPr marL="368300">
              <a:buSzPts val="2400"/>
            </a:pPr>
            <a:r>
              <a:rPr lang="en-US" sz="2000" dirty="0">
                <a:latin typeface="Times New Roman" panose="02020603050405020304" pitchFamily="18" charset="0"/>
                <a:cs typeface="Times New Roman" panose="02020603050405020304" pitchFamily="18" charset="0"/>
              </a:rPr>
              <a:t>Job Role Assignment</a:t>
            </a:r>
          </a:p>
          <a:p>
            <a:pPr marL="368300">
              <a:buSzPts val="2400"/>
            </a:pPr>
            <a:r>
              <a:rPr lang="en-US" sz="2000" dirty="0">
                <a:latin typeface="Times New Roman" panose="02020603050405020304" pitchFamily="18" charset="0"/>
                <a:cs typeface="Times New Roman" panose="02020603050405020304" pitchFamily="18" charset="0"/>
              </a:rPr>
              <a:t>Departmental Structure</a:t>
            </a:r>
          </a:p>
          <a:p>
            <a:pPr marL="368300">
              <a:buSzPts val="2400"/>
            </a:pPr>
            <a:r>
              <a:rPr lang="en-US" sz="2000" dirty="0">
                <a:latin typeface="Times New Roman" panose="02020603050405020304" pitchFamily="18" charset="0"/>
                <a:cs typeface="Times New Roman" panose="02020603050405020304" pitchFamily="18" charset="0"/>
              </a:rPr>
              <a:t>Payroll and Compensation</a:t>
            </a:r>
          </a:p>
          <a:p>
            <a:pPr marL="368300">
              <a:buSzPts val="2400"/>
            </a:pPr>
            <a:r>
              <a:rPr lang="en-US" sz="2000" dirty="0">
                <a:latin typeface="Times New Roman" panose="02020603050405020304" pitchFamily="18" charset="0"/>
                <a:cs typeface="Times New Roman" panose="02020603050405020304" pitchFamily="18" charset="0"/>
              </a:rPr>
              <a:t>Qualifications and Skills Tracking</a:t>
            </a:r>
          </a:p>
          <a:p>
            <a:pPr marL="368300">
              <a:buSzPts val="2400"/>
            </a:pPr>
            <a:r>
              <a:rPr lang="en-US" sz="2000" dirty="0">
                <a:latin typeface="Times New Roman" panose="02020603050405020304" pitchFamily="18" charset="0"/>
                <a:cs typeface="Times New Roman" panose="02020603050405020304" pitchFamily="18" charset="0"/>
              </a:rPr>
              <a:t>Leave and Absence Management</a:t>
            </a:r>
          </a:p>
          <a:p>
            <a:pPr marL="25400" lvl="0" indent="0" algn="l" rtl="0">
              <a:lnSpc>
                <a:spcPct val="90000"/>
              </a:lnSpc>
              <a:spcBef>
                <a:spcPts val="1000"/>
              </a:spcBef>
              <a:spcAft>
                <a:spcPts val="0"/>
              </a:spcAft>
              <a:buSzPts val="2400"/>
              <a:buNone/>
            </a:pPr>
            <a:r>
              <a:rPr lang="en-US" sz="2000" dirty="0">
                <a:latin typeface="Times New Roman" panose="02020603050405020304" pitchFamily="18" charset="0"/>
                <a:cs typeface="Times New Roman" panose="02020603050405020304" pitchFamily="18" charset="0"/>
              </a:rPr>
              <a:t>This system ensures that all employee-related information is stored securely, easily accessible for reporting, and aligned with organizational goals for performance, compensation, and growth.</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A903E4-7AC4-4F60-9CD3-544A91F03A1E}"/>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8D7E5CF4-1765-44B4-80F9-80BF8F4943CB}"/>
              </a:ext>
            </a:extLst>
          </p:cNvPr>
          <p:cNvSpPr>
            <a:spLocks noGrp="1"/>
          </p:cNvSpPr>
          <p:nvPr>
            <p:ph type="title"/>
          </p:nvPr>
        </p:nvSpPr>
        <p:spPr>
          <a:xfrm>
            <a:off x="228600" y="91856"/>
            <a:ext cx="10515600" cy="1325563"/>
          </a:xfrm>
        </p:spPr>
        <p:txBody>
          <a:bodyPr/>
          <a:lstStyle/>
          <a:p>
            <a:r>
              <a:rPr lang="en-US" b="1" dirty="0">
                <a:solidFill>
                  <a:srgbClr val="FF0000"/>
                </a:solidFill>
              </a:rPr>
              <a:t>OBJECTIVE</a:t>
            </a:r>
          </a:p>
        </p:txBody>
      </p:sp>
      <p:sp>
        <p:nvSpPr>
          <p:cNvPr id="3" name="Text Placeholder 2">
            <a:extLst>
              <a:ext uri="{FF2B5EF4-FFF2-40B4-BE49-F238E27FC236}">
                <a16:creationId xmlns:a16="http://schemas.microsoft.com/office/drawing/2014/main" id="{0092B1A6-B6EA-47E9-80B7-6DB85E01A3B4}"/>
              </a:ext>
            </a:extLst>
          </p:cNvPr>
          <p:cNvSpPr>
            <a:spLocks noGrp="1"/>
          </p:cNvSpPr>
          <p:nvPr>
            <p:ph type="body" idx="1"/>
          </p:nvPr>
        </p:nvSpPr>
        <p:spPr>
          <a:xfrm>
            <a:off x="838200" y="1331639"/>
            <a:ext cx="10515600" cy="4351338"/>
          </a:xfrm>
        </p:spPr>
        <p:txBody>
          <a:bodyPr>
            <a:normAutofit fontScale="92500" lnSpcReduction="10000"/>
          </a:bodyPr>
          <a:lstStyle/>
          <a:p>
            <a:r>
              <a:rPr lang="en-US" dirty="0"/>
              <a:t>The objective of the Employee Management System using SQL is to design and implement a relational database that efficiently stores, manages, and retrieves employee-related information. </a:t>
            </a:r>
          </a:p>
          <a:p>
            <a:r>
              <a:rPr lang="en-US" dirty="0"/>
              <a:t>The system </a:t>
            </a:r>
            <a:r>
              <a:rPr lang="en-US" dirty="0">
                <a:latin typeface="Times New Roman" panose="02020603050405020304" pitchFamily="18" charset="0"/>
                <a:cs typeface="Times New Roman" panose="02020603050405020304" pitchFamily="18" charset="0"/>
              </a:rPr>
              <a:t>uses</a:t>
            </a:r>
            <a:r>
              <a:rPr lang="en-US" dirty="0"/>
              <a:t> SQL tables and queries to maintain employee details, job roles, departments, payroll information, qualifications, and leave records. </a:t>
            </a:r>
          </a:p>
          <a:p>
            <a:r>
              <a:rPr lang="en-US" dirty="0"/>
              <a:t>It ensures data integrity through primary and foreign keys, enables quick data access using SQL queries, and supports effective decision-making by generating reports related to employee performance, salaries, and departmental activities. </a:t>
            </a:r>
          </a:p>
          <a:p>
            <a:r>
              <a:rPr lang="en-US" dirty="0"/>
              <a:t>This system helps organizations manage employee data in a structured, secure, and efficient manner.</a:t>
            </a:r>
          </a:p>
        </p:txBody>
      </p:sp>
    </p:spTree>
    <p:extLst>
      <p:ext uri="{BB962C8B-B14F-4D97-AF65-F5344CB8AC3E}">
        <p14:creationId xmlns:p14="http://schemas.microsoft.com/office/powerpoint/2010/main" val="152783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D47EA9-1095-4429-8FCF-66464EFF1ED4}"/>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229C29A-902A-47B0-8D1D-14FEC7EAEFBF}"/>
              </a:ext>
            </a:extLst>
          </p:cNvPr>
          <p:cNvSpPr>
            <a:spLocks noGrp="1"/>
          </p:cNvSpPr>
          <p:nvPr>
            <p:ph type="title"/>
          </p:nvPr>
        </p:nvSpPr>
        <p:spPr>
          <a:xfrm>
            <a:off x="176049" y="18255"/>
            <a:ext cx="10515600" cy="1325563"/>
          </a:xfrm>
        </p:spPr>
        <p:txBody>
          <a:bodyPr/>
          <a:lstStyle/>
          <a:p>
            <a:r>
              <a:rPr lang="en-US" b="1" dirty="0">
                <a:solidFill>
                  <a:srgbClr val="FF0000"/>
                </a:solidFill>
              </a:rPr>
              <a:t>PROBLEM STATEMENT</a:t>
            </a:r>
          </a:p>
        </p:txBody>
      </p:sp>
      <p:sp>
        <p:nvSpPr>
          <p:cNvPr id="3" name="Text Placeholder 2">
            <a:extLst>
              <a:ext uri="{FF2B5EF4-FFF2-40B4-BE49-F238E27FC236}">
                <a16:creationId xmlns:a16="http://schemas.microsoft.com/office/drawing/2014/main" id="{F5A67E8C-C951-4F8A-BF2E-BDB4FB833CB0}"/>
              </a:ext>
            </a:extLst>
          </p:cNvPr>
          <p:cNvSpPr>
            <a:spLocks noGrp="1"/>
          </p:cNvSpPr>
          <p:nvPr>
            <p:ph type="body" idx="1"/>
          </p:nvPr>
        </p:nvSpPr>
        <p:spPr>
          <a:xfrm>
            <a:off x="838200" y="1253331"/>
            <a:ext cx="10515600" cy="4351338"/>
          </a:xfrm>
        </p:spPr>
        <p:txBody>
          <a:bodyPr>
            <a:normAutofit/>
          </a:bodyPr>
          <a:lstStyle/>
          <a:p>
            <a:r>
              <a:rPr lang="en-US" sz="22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system should ensure the integrity and consistency of data by using relational tables with appropriate foreign keys and cascading actions. 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p:txBody>
      </p:sp>
    </p:spTree>
    <p:extLst>
      <p:ext uri="{BB962C8B-B14F-4D97-AF65-F5344CB8AC3E}">
        <p14:creationId xmlns:p14="http://schemas.microsoft.com/office/powerpoint/2010/main" val="1467584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 People Business PowerPoint Background Download | CBEditz">
            <a:extLst>
              <a:ext uri="{FF2B5EF4-FFF2-40B4-BE49-F238E27FC236}">
                <a16:creationId xmlns:a16="http://schemas.microsoft.com/office/drawing/2014/main" id="{B701F365-6174-45EE-8567-8911AF677F6A}"/>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10;p4">
            <a:extLst>
              <a:ext uri="{FF2B5EF4-FFF2-40B4-BE49-F238E27FC236}">
                <a16:creationId xmlns:a16="http://schemas.microsoft.com/office/drawing/2014/main" id="{76CCF1C3-A0F0-440D-A090-12D6979DF875}"/>
              </a:ext>
            </a:extLst>
          </p:cNvPr>
          <p:cNvSpPr txBox="1">
            <a:spLocks noGrp="1"/>
          </p:cNvSpPr>
          <p:nvPr>
            <p:ph type="title"/>
          </p:nvPr>
        </p:nvSpPr>
        <p:spPr>
          <a:xfrm>
            <a:off x="323193" y="0"/>
            <a:ext cx="10515600" cy="1325563"/>
          </a:xfrm>
          <a:prstGeom prst="rect">
            <a:avLst/>
          </a:prstGeom>
          <a:noFill/>
          <a:ln>
            <a:noFill/>
          </a:ln>
        </p:spPr>
        <p:txBody>
          <a:bodyPr spcFirstLastPara="1" wrap="square" lIns="91425" tIns="45700" rIns="91425" bIns="45700" anchor="ctr" anchorCtr="0">
            <a:normAutofit/>
          </a:bodyPr>
          <a:lstStyle/>
          <a:p>
            <a:pPr marL="0" lvl="0" indent="0" rtl="0">
              <a:lnSpc>
                <a:spcPct val="100000"/>
              </a:lnSpc>
              <a:spcBef>
                <a:spcPts val="0"/>
              </a:spcBef>
              <a:spcAft>
                <a:spcPts val="0"/>
              </a:spcAft>
              <a:buClr>
                <a:srgbClr val="FF0000"/>
              </a:buClr>
              <a:buSzPts val="4400"/>
              <a:buFont typeface="Calibri"/>
              <a:buNone/>
            </a:pPr>
            <a:r>
              <a:rPr lang="en-US" b="1" dirty="0">
                <a:solidFill>
                  <a:srgbClr val="FF0000"/>
                </a:solidFill>
                <a:latin typeface="Times New Roman" panose="02020603050405020304" pitchFamily="18" charset="0"/>
                <a:cs typeface="Times New Roman" panose="02020603050405020304" pitchFamily="18" charset="0"/>
              </a:rPr>
              <a:t>TABLES</a:t>
            </a:r>
            <a:endParaRPr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B86F8E36-6E4A-4DE2-A5C5-1207F47F1E34}"/>
              </a:ext>
            </a:extLst>
          </p:cNvPr>
          <p:cNvGraphicFramePr>
            <a:graphicFrameLocks noGrp="1"/>
          </p:cNvGraphicFramePr>
          <p:nvPr>
            <p:extLst>
              <p:ext uri="{D42A27DB-BD31-4B8C-83A1-F6EECF244321}">
                <p14:modId xmlns:p14="http://schemas.microsoft.com/office/powerpoint/2010/main" val="2671804507"/>
              </p:ext>
            </p:extLst>
          </p:nvPr>
        </p:nvGraphicFramePr>
        <p:xfrm>
          <a:off x="2032000" y="1844798"/>
          <a:ext cx="8128000" cy="3168403"/>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265159763"/>
                    </a:ext>
                  </a:extLst>
                </a:gridCol>
              </a:tblGrid>
              <a:tr h="452629">
                <a:tc>
                  <a:txBody>
                    <a:bodyPr/>
                    <a:lstStyle/>
                    <a:p>
                      <a:r>
                        <a:rPr lang="en-US" sz="1800" dirty="0">
                          <a:latin typeface="Times New Roman" panose="02020603050405020304" pitchFamily="18" charset="0"/>
                          <a:cs typeface="Times New Roman" panose="02020603050405020304" pitchFamily="18" charset="0"/>
                        </a:rPr>
                        <a:t>TABLES_IN_EMS</a:t>
                      </a:r>
                    </a:p>
                  </a:txBody>
                  <a:tcPr/>
                </a:tc>
                <a:extLst>
                  <a:ext uri="{0D108BD9-81ED-4DB2-BD59-A6C34878D82A}">
                    <a16:rowId xmlns:a16="http://schemas.microsoft.com/office/drawing/2014/main" val="558747941"/>
                  </a:ext>
                </a:extLst>
              </a:tr>
              <a:tr h="452629">
                <a:tc>
                  <a:txBody>
                    <a:bodyPr/>
                    <a:lstStyle/>
                    <a:p>
                      <a:r>
                        <a:rPr lang="en-US" sz="1600" dirty="0">
                          <a:solidFill>
                            <a:schemeClr val="tx1"/>
                          </a:solidFill>
                          <a:latin typeface="Times New Roman" panose="02020603050405020304" pitchFamily="18" charset="0"/>
                          <a:cs typeface="Times New Roman" panose="02020603050405020304" pitchFamily="18" charset="0"/>
                        </a:rPr>
                        <a:t>1. JOBDEPARTMENT</a:t>
                      </a:r>
                    </a:p>
                  </a:txBody>
                  <a:tcPr/>
                </a:tc>
                <a:extLst>
                  <a:ext uri="{0D108BD9-81ED-4DB2-BD59-A6C34878D82A}">
                    <a16:rowId xmlns:a16="http://schemas.microsoft.com/office/drawing/2014/main" val="2269610965"/>
                  </a:ext>
                </a:extLst>
              </a:tr>
              <a:tr h="45262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latin typeface="Times New Roman" panose="02020603050405020304" pitchFamily="18" charset="0"/>
                          <a:cs typeface="Times New Roman" panose="02020603050405020304" pitchFamily="18" charset="0"/>
                        </a:rPr>
                        <a:t>2. SALARYBONUS</a:t>
                      </a:r>
                    </a:p>
                  </a:txBody>
                  <a:tcPr/>
                </a:tc>
                <a:extLst>
                  <a:ext uri="{0D108BD9-81ED-4DB2-BD59-A6C34878D82A}">
                    <a16:rowId xmlns:a16="http://schemas.microsoft.com/office/drawing/2014/main" val="2308489601"/>
                  </a:ext>
                </a:extLst>
              </a:tr>
              <a:tr h="452629">
                <a:tc>
                  <a:txBody>
                    <a:bodyPr/>
                    <a:lstStyle/>
                    <a:p>
                      <a:r>
                        <a:rPr lang="en-US" dirty="0"/>
                        <a:t>3. EMPLOYEE</a:t>
                      </a:r>
                    </a:p>
                  </a:txBody>
                  <a:tcPr/>
                </a:tc>
                <a:extLst>
                  <a:ext uri="{0D108BD9-81ED-4DB2-BD59-A6C34878D82A}">
                    <a16:rowId xmlns:a16="http://schemas.microsoft.com/office/drawing/2014/main" val="3212357286"/>
                  </a:ext>
                </a:extLst>
              </a:tr>
              <a:tr h="452629">
                <a:tc>
                  <a:txBody>
                    <a:bodyPr/>
                    <a:lstStyle/>
                    <a:p>
                      <a:r>
                        <a:rPr lang="en-US" dirty="0"/>
                        <a:t>4. QUALIFICATION</a:t>
                      </a:r>
                    </a:p>
                  </a:txBody>
                  <a:tcPr/>
                </a:tc>
                <a:extLst>
                  <a:ext uri="{0D108BD9-81ED-4DB2-BD59-A6C34878D82A}">
                    <a16:rowId xmlns:a16="http://schemas.microsoft.com/office/drawing/2014/main" val="3302455590"/>
                  </a:ext>
                </a:extLst>
              </a:tr>
              <a:tr h="452629">
                <a:tc>
                  <a:txBody>
                    <a:bodyPr/>
                    <a:lstStyle/>
                    <a:p>
                      <a:r>
                        <a:rPr lang="en-US" dirty="0"/>
                        <a:t>5. LEAVES</a:t>
                      </a:r>
                    </a:p>
                  </a:txBody>
                  <a:tcPr/>
                </a:tc>
                <a:extLst>
                  <a:ext uri="{0D108BD9-81ED-4DB2-BD59-A6C34878D82A}">
                    <a16:rowId xmlns:a16="http://schemas.microsoft.com/office/drawing/2014/main" val="3373910066"/>
                  </a:ext>
                </a:extLst>
              </a:tr>
              <a:tr h="452629">
                <a:tc>
                  <a:txBody>
                    <a:bodyPr/>
                    <a:lstStyle/>
                    <a:p>
                      <a:r>
                        <a:rPr lang="en-US" dirty="0"/>
                        <a:t>6. PAYROLL</a:t>
                      </a:r>
                    </a:p>
                  </a:txBody>
                  <a:tcPr/>
                </a:tc>
                <a:extLst>
                  <a:ext uri="{0D108BD9-81ED-4DB2-BD59-A6C34878D82A}">
                    <a16:rowId xmlns:a16="http://schemas.microsoft.com/office/drawing/2014/main" val="754528854"/>
                  </a:ext>
                </a:extLst>
              </a:tr>
            </a:tbl>
          </a:graphicData>
        </a:graphic>
      </p:graphicFrame>
    </p:spTree>
    <p:extLst>
      <p:ext uri="{BB962C8B-B14F-4D97-AF65-F5344CB8AC3E}">
        <p14:creationId xmlns:p14="http://schemas.microsoft.com/office/powerpoint/2010/main" val="943801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 People Business PowerPoint Background Download | CBEditz">
            <a:extLst>
              <a:ext uri="{FF2B5EF4-FFF2-40B4-BE49-F238E27FC236}">
                <a16:creationId xmlns:a16="http://schemas.microsoft.com/office/drawing/2014/main" id="{07C1645F-D3A8-4923-A89B-1BA9440AE7BD}"/>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4070982-B81C-43A4-8CE6-06BE76A197C9}"/>
              </a:ext>
            </a:extLst>
          </p:cNvPr>
          <p:cNvSpPr>
            <a:spLocks noGrp="1"/>
          </p:cNvSpPr>
          <p:nvPr>
            <p:ph type="title"/>
          </p:nvPr>
        </p:nvSpPr>
        <p:spPr>
          <a:xfrm>
            <a:off x="2286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TABLES STRUCTURES</a:t>
            </a:r>
            <a:endParaRPr lang="en-US" dirty="0">
              <a:solidFill>
                <a:srgbClr val="FF0000"/>
              </a:solidFill>
            </a:endParaRPr>
          </a:p>
        </p:txBody>
      </p:sp>
      <p:pic>
        <p:nvPicPr>
          <p:cNvPr id="4" name="Picture 3">
            <a:extLst>
              <a:ext uri="{FF2B5EF4-FFF2-40B4-BE49-F238E27FC236}">
                <a16:creationId xmlns:a16="http://schemas.microsoft.com/office/drawing/2014/main" id="{C7EA0EA9-62E4-49C4-B7B0-9EDBCE853F50}"/>
              </a:ext>
            </a:extLst>
          </p:cNvPr>
          <p:cNvPicPr>
            <a:picLocks noChangeAspect="1"/>
          </p:cNvPicPr>
          <p:nvPr/>
        </p:nvPicPr>
        <p:blipFill>
          <a:blip r:embed="rId3"/>
          <a:stretch>
            <a:fillRect/>
          </a:stretch>
        </p:blipFill>
        <p:spPr>
          <a:xfrm>
            <a:off x="6546850" y="2695575"/>
            <a:ext cx="4000500" cy="2181225"/>
          </a:xfrm>
          <a:prstGeom prst="rect">
            <a:avLst/>
          </a:prstGeom>
        </p:spPr>
      </p:pic>
      <p:pic>
        <p:nvPicPr>
          <p:cNvPr id="11" name="Picture 10">
            <a:extLst>
              <a:ext uri="{FF2B5EF4-FFF2-40B4-BE49-F238E27FC236}">
                <a16:creationId xmlns:a16="http://schemas.microsoft.com/office/drawing/2014/main" id="{57B3793A-1322-46E5-888A-A01AA58F663B}"/>
              </a:ext>
            </a:extLst>
          </p:cNvPr>
          <p:cNvPicPr>
            <a:picLocks noChangeAspect="1"/>
          </p:cNvPicPr>
          <p:nvPr/>
        </p:nvPicPr>
        <p:blipFill>
          <a:blip r:embed="rId4"/>
          <a:stretch>
            <a:fillRect/>
          </a:stretch>
        </p:blipFill>
        <p:spPr>
          <a:xfrm>
            <a:off x="1206501" y="4581525"/>
            <a:ext cx="3829050" cy="1362075"/>
          </a:xfrm>
          <a:prstGeom prst="rect">
            <a:avLst/>
          </a:prstGeom>
        </p:spPr>
      </p:pic>
      <p:pic>
        <p:nvPicPr>
          <p:cNvPr id="15" name="Picture 14">
            <a:extLst>
              <a:ext uri="{FF2B5EF4-FFF2-40B4-BE49-F238E27FC236}">
                <a16:creationId xmlns:a16="http://schemas.microsoft.com/office/drawing/2014/main" id="{CDD038B0-65B4-4D93-8B92-0F86FC6875CD}"/>
              </a:ext>
            </a:extLst>
          </p:cNvPr>
          <p:cNvPicPr>
            <a:picLocks noChangeAspect="1"/>
          </p:cNvPicPr>
          <p:nvPr/>
        </p:nvPicPr>
        <p:blipFill>
          <a:blip r:embed="rId5"/>
          <a:stretch>
            <a:fillRect/>
          </a:stretch>
        </p:blipFill>
        <p:spPr>
          <a:xfrm>
            <a:off x="1206501" y="1962150"/>
            <a:ext cx="3895725" cy="1466850"/>
          </a:xfrm>
          <a:prstGeom prst="rect">
            <a:avLst/>
          </a:prstGeom>
        </p:spPr>
      </p:pic>
      <p:sp>
        <p:nvSpPr>
          <p:cNvPr id="17" name="TextBox 16">
            <a:extLst>
              <a:ext uri="{FF2B5EF4-FFF2-40B4-BE49-F238E27FC236}">
                <a16:creationId xmlns:a16="http://schemas.microsoft.com/office/drawing/2014/main" id="{7BC30472-E096-409B-8B0D-DB8490BAE25B}"/>
              </a:ext>
            </a:extLst>
          </p:cNvPr>
          <p:cNvSpPr txBox="1"/>
          <p:nvPr/>
        </p:nvSpPr>
        <p:spPr>
          <a:xfrm>
            <a:off x="1206501" y="1325563"/>
            <a:ext cx="3714751"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JOBDEPARTMENT</a:t>
            </a:r>
            <a:endParaRPr lang="en-US" sz="2200" b="1" dirty="0"/>
          </a:p>
        </p:txBody>
      </p:sp>
      <p:sp>
        <p:nvSpPr>
          <p:cNvPr id="18" name="TextBox 17">
            <a:extLst>
              <a:ext uri="{FF2B5EF4-FFF2-40B4-BE49-F238E27FC236}">
                <a16:creationId xmlns:a16="http://schemas.microsoft.com/office/drawing/2014/main" id="{4DA44382-C1C9-44EC-8232-1FD86D24AD54}"/>
              </a:ext>
            </a:extLst>
          </p:cNvPr>
          <p:cNvSpPr txBox="1"/>
          <p:nvPr/>
        </p:nvSpPr>
        <p:spPr>
          <a:xfrm>
            <a:off x="6546850" y="1962150"/>
            <a:ext cx="3663950"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EMPLOYEE</a:t>
            </a:r>
          </a:p>
        </p:txBody>
      </p:sp>
      <p:sp>
        <p:nvSpPr>
          <p:cNvPr id="19" name="TextBox 18">
            <a:extLst>
              <a:ext uri="{FF2B5EF4-FFF2-40B4-BE49-F238E27FC236}">
                <a16:creationId xmlns:a16="http://schemas.microsoft.com/office/drawing/2014/main" id="{9440254E-EC5C-4F47-BDCA-2C0B52F5D2CF}"/>
              </a:ext>
            </a:extLst>
          </p:cNvPr>
          <p:cNvSpPr txBox="1"/>
          <p:nvPr/>
        </p:nvSpPr>
        <p:spPr>
          <a:xfrm>
            <a:off x="1206501" y="3850143"/>
            <a:ext cx="3225799"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SALARYBONUS</a:t>
            </a:r>
          </a:p>
        </p:txBody>
      </p:sp>
    </p:spTree>
    <p:extLst>
      <p:ext uri="{BB962C8B-B14F-4D97-AF65-F5344CB8AC3E}">
        <p14:creationId xmlns:p14="http://schemas.microsoft.com/office/powerpoint/2010/main" val="2354275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 People Business PowerPoint Background Download | CBEditz">
            <a:extLst>
              <a:ext uri="{FF2B5EF4-FFF2-40B4-BE49-F238E27FC236}">
                <a16:creationId xmlns:a16="http://schemas.microsoft.com/office/drawing/2014/main" id="{EF6ADD90-0A18-4D89-8B64-4FE6DBCA9384}"/>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5274C03-7BE4-4F61-BC62-6C7485BA5CF7}"/>
              </a:ext>
            </a:extLst>
          </p:cNvPr>
          <p:cNvSpPr>
            <a:spLocks noGrp="1"/>
          </p:cNvSpPr>
          <p:nvPr>
            <p:ph type="title"/>
          </p:nvPr>
        </p:nvSpPr>
        <p:spPr>
          <a:xfrm>
            <a:off x="2921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TABLES STRUCTURES</a:t>
            </a:r>
            <a:endParaRPr lang="en-US" dirty="0"/>
          </a:p>
        </p:txBody>
      </p:sp>
      <p:pic>
        <p:nvPicPr>
          <p:cNvPr id="4" name="Picture 3">
            <a:extLst>
              <a:ext uri="{FF2B5EF4-FFF2-40B4-BE49-F238E27FC236}">
                <a16:creationId xmlns:a16="http://schemas.microsoft.com/office/drawing/2014/main" id="{FAA27B5E-EF9E-4E19-A40F-3E3429B26265}"/>
              </a:ext>
            </a:extLst>
          </p:cNvPr>
          <p:cNvPicPr>
            <a:picLocks noChangeAspect="1"/>
          </p:cNvPicPr>
          <p:nvPr/>
        </p:nvPicPr>
        <p:blipFill>
          <a:blip r:embed="rId3"/>
          <a:stretch>
            <a:fillRect/>
          </a:stretch>
        </p:blipFill>
        <p:spPr>
          <a:xfrm>
            <a:off x="6769100" y="2629355"/>
            <a:ext cx="4038600" cy="1952625"/>
          </a:xfrm>
          <a:prstGeom prst="rect">
            <a:avLst/>
          </a:prstGeom>
        </p:spPr>
      </p:pic>
      <p:pic>
        <p:nvPicPr>
          <p:cNvPr id="5" name="Picture 4">
            <a:extLst>
              <a:ext uri="{FF2B5EF4-FFF2-40B4-BE49-F238E27FC236}">
                <a16:creationId xmlns:a16="http://schemas.microsoft.com/office/drawing/2014/main" id="{9E7FA40C-4E2A-4330-9C2A-E3AC2C9F4529}"/>
              </a:ext>
            </a:extLst>
          </p:cNvPr>
          <p:cNvPicPr>
            <a:picLocks noChangeAspect="1"/>
          </p:cNvPicPr>
          <p:nvPr/>
        </p:nvPicPr>
        <p:blipFill>
          <a:blip r:embed="rId4"/>
          <a:stretch>
            <a:fillRect/>
          </a:stretch>
        </p:blipFill>
        <p:spPr>
          <a:xfrm>
            <a:off x="1320802" y="4197349"/>
            <a:ext cx="3314700" cy="1104900"/>
          </a:xfrm>
          <a:prstGeom prst="rect">
            <a:avLst/>
          </a:prstGeom>
        </p:spPr>
      </p:pic>
      <p:pic>
        <p:nvPicPr>
          <p:cNvPr id="6" name="Picture 5">
            <a:extLst>
              <a:ext uri="{FF2B5EF4-FFF2-40B4-BE49-F238E27FC236}">
                <a16:creationId xmlns:a16="http://schemas.microsoft.com/office/drawing/2014/main" id="{0C9348B9-CCE8-40F5-ABF4-E72653B67858}"/>
              </a:ext>
            </a:extLst>
          </p:cNvPr>
          <p:cNvPicPr>
            <a:picLocks noChangeAspect="1"/>
          </p:cNvPicPr>
          <p:nvPr/>
        </p:nvPicPr>
        <p:blipFill>
          <a:blip r:embed="rId5"/>
          <a:stretch>
            <a:fillRect/>
          </a:stretch>
        </p:blipFill>
        <p:spPr>
          <a:xfrm>
            <a:off x="1320802" y="2073275"/>
            <a:ext cx="4067175" cy="1371600"/>
          </a:xfrm>
          <a:prstGeom prst="rect">
            <a:avLst/>
          </a:prstGeom>
        </p:spPr>
      </p:pic>
      <p:sp>
        <p:nvSpPr>
          <p:cNvPr id="7" name="TextBox 6">
            <a:extLst>
              <a:ext uri="{FF2B5EF4-FFF2-40B4-BE49-F238E27FC236}">
                <a16:creationId xmlns:a16="http://schemas.microsoft.com/office/drawing/2014/main" id="{440BD21E-A06C-41A1-9D6B-E1A7CAD737CD}"/>
              </a:ext>
            </a:extLst>
          </p:cNvPr>
          <p:cNvSpPr txBox="1"/>
          <p:nvPr/>
        </p:nvSpPr>
        <p:spPr>
          <a:xfrm>
            <a:off x="1320802" y="1395988"/>
            <a:ext cx="3784598"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QUALIFICATION</a:t>
            </a:r>
          </a:p>
        </p:txBody>
      </p:sp>
      <p:sp>
        <p:nvSpPr>
          <p:cNvPr id="8" name="TextBox 7">
            <a:extLst>
              <a:ext uri="{FF2B5EF4-FFF2-40B4-BE49-F238E27FC236}">
                <a16:creationId xmlns:a16="http://schemas.microsoft.com/office/drawing/2014/main" id="{93902D2F-D660-4332-9F98-64C390268F67}"/>
              </a:ext>
            </a:extLst>
          </p:cNvPr>
          <p:cNvSpPr txBox="1"/>
          <p:nvPr/>
        </p:nvSpPr>
        <p:spPr>
          <a:xfrm>
            <a:off x="6804024" y="2115125"/>
            <a:ext cx="3152775"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LEAVES</a:t>
            </a:r>
          </a:p>
        </p:txBody>
      </p:sp>
      <p:sp>
        <p:nvSpPr>
          <p:cNvPr id="9" name="TextBox 8">
            <a:extLst>
              <a:ext uri="{FF2B5EF4-FFF2-40B4-BE49-F238E27FC236}">
                <a16:creationId xmlns:a16="http://schemas.microsoft.com/office/drawing/2014/main" id="{381CD807-2E13-4E8E-B43B-2C6E5113943C}"/>
              </a:ext>
            </a:extLst>
          </p:cNvPr>
          <p:cNvSpPr txBox="1"/>
          <p:nvPr/>
        </p:nvSpPr>
        <p:spPr>
          <a:xfrm>
            <a:off x="1320802" y="3605668"/>
            <a:ext cx="2463800" cy="430887"/>
          </a:xfrm>
          <a:prstGeom prst="rect">
            <a:avLst/>
          </a:prstGeom>
          <a:noFill/>
        </p:spPr>
        <p:txBody>
          <a:bodyPr wrap="square" rtlCol="0">
            <a:spAutoFit/>
          </a:bodyPr>
          <a:lstStyle/>
          <a:p>
            <a:r>
              <a:rPr lang="en-US" sz="2200" b="1" dirty="0">
                <a:solidFill>
                  <a:schemeClr val="tx1"/>
                </a:solidFill>
                <a:latin typeface="Times New Roman" panose="02020603050405020304" pitchFamily="18" charset="0"/>
                <a:cs typeface="Times New Roman" panose="02020603050405020304" pitchFamily="18" charset="0"/>
              </a:rPr>
              <a:t>PAYROLL</a:t>
            </a:r>
          </a:p>
        </p:txBody>
      </p:sp>
    </p:spTree>
    <p:extLst>
      <p:ext uri="{BB962C8B-B14F-4D97-AF65-F5344CB8AC3E}">
        <p14:creationId xmlns:p14="http://schemas.microsoft.com/office/powerpoint/2010/main" val="4079184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People Business PowerPoint Background Download | CBEditz">
            <a:extLst>
              <a:ext uri="{FF2B5EF4-FFF2-40B4-BE49-F238E27FC236}">
                <a16:creationId xmlns:a16="http://schemas.microsoft.com/office/drawing/2014/main" id="{854C6BA5-919D-4165-9FEF-A03A13D9C155}"/>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1B8F07-DCFE-4C0D-96AF-9B7B2029AB8C}"/>
              </a:ext>
            </a:extLst>
          </p:cNvPr>
          <p:cNvSpPr>
            <a:spLocks noGrp="1"/>
          </p:cNvSpPr>
          <p:nvPr>
            <p:ph type="title"/>
          </p:nvPr>
        </p:nvSpPr>
        <p:spPr>
          <a:xfrm>
            <a:off x="20320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ER</a:t>
            </a:r>
            <a:r>
              <a:rPr lang="en-US" dirty="0"/>
              <a:t> </a:t>
            </a:r>
            <a:r>
              <a:rPr lang="en-US" b="1" dirty="0">
                <a:solidFill>
                  <a:srgbClr val="FF0000"/>
                </a:solidFill>
                <a:latin typeface="Times New Roman" panose="02020603050405020304" pitchFamily="18" charset="0"/>
                <a:cs typeface="Times New Roman" panose="02020603050405020304" pitchFamily="18" charset="0"/>
              </a:rPr>
              <a:t>DIAGRAM</a:t>
            </a:r>
          </a:p>
        </p:txBody>
      </p:sp>
      <p:pic>
        <p:nvPicPr>
          <p:cNvPr id="4" name="Picture 3">
            <a:extLst>
              <a:ext uri="{FF2B5EF4-FFF2-40B4-BE49-F238E27FC236}">
                <a16:creationId xmlns:a16="http://schemas.microsoft.com/office/drawing/2014/main" id="{E070665F-9809-4D47-A0FC-6581B67CC80E}"/>
              </a:ext>
            </a:extLst>
          </p:cNvPr>
          <p:cNvPicPr>
            <a:picLocks noChangeAspect="1"/>
          </p:cNvPicPr>
          <p:nvPr/>
        </p:nvPicPr>
        <p:blipFill>
          <a:blip r:embed="rId3"/>
          <a:stretch>
            <a:fillRect/>
          </a:stretch>
        </p:blipFill>
        <p:spPr>
          <a:xfrm>
            <a:off x="2380450" y="1027702"/>
            <a:ext cx="6407950" cy="5588997"/>
          </a:xfrm>
          <a:prstGeom prst="rect">
            <a:avLst/>
          </a:prstGeom>
        </p:spPr>
      </p:pic>
    </p:spTree>
    <p:extLst>
      <p:ext uri="{BB962C8B-B14F-4D97-AF65-F5344CB8AC3E}">
        <p14:creationId xmlns:p14="http://schemas.microsoft.com/office/powerpoint/2010/main" val="3552995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 People Business PowerPoint Background Download | CBEditz">
            <a:extLst>
              <a:ext uri="{FF2B5EF4-FFF2-40B4-BE49-F238E27FC236}">
                <a16:creationId xmlns:a16="http://schemas.microsoft.com/office/drawing/2014/main" id="{C756B233-CC83-4F2A-9B44-6067A7F9115B}"/>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38C0B67-DB00-4600-ADA8-E317B43AECA2}"/>
              </a:ext>
            </a:extLst>
          </p:cNvPr>
          <p:cNvSpPr txBox="1"/>
          <p:nvPr/>
        </p:nvSpPr>
        <p:spPr>
          <a:xfrm>
            <a:off x="248428" y="239822"/>
            <a:ext cx="6032500" cy="646331"/>
          </a:xfrm>
          <a:prstGeom prst="rect">
            <a:avLst/>
          </a:prstGeom>
          <a:noFill/>
        </p:spPr>
        <p:txBody>
          <a:bodyPr wrap="square" rtlCol="0">
            <a:spAutoFit/>
          </a:bodyPr>
          <a:lstStyle/>
          <a:p>
            <a:r>
              <a:rPr lang="en-US" sz="3600" b="1" i="0" u="none" strike="noStrike" dirty="0">
                <a:solidFill>
                  <a:srgbClr val="000000"/>
                </a:solidFill>
                <a:effectLst/>
                <a:latin typeface="Times New Roman" panose="02020603050405020304" pitchFamily="18" charset="0"/>
                <a:cs typeface="Times New Roman" panose="02020603050405020304" pitchFamily="18" charset="0"/>
              </a:rPr>
              <a:t> EMPLOYEE ANALYSIS</a:t>
            </a:r>
            <a:endParaRPr lang="en-US" sz="3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84C556A-648C-406C-93F3-092E9C3B1E9A}"/>
              </a:ext>
            </a:extLst>
          </p:cNvPr>
          <p:cNvSpPr txBox="1"/>
          <p:nvPr/>
        </p:nvSpPr>
        <p:spPr>
          <a:xfrm>
            <a:off x="354304" y="1127815"/>
            <a:ext cx="976941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a:t>
            </a:r>
            <a:r>
              <a:rPr lang="en-US" sz="2400" b="0" i="0" u="none" strike="noStrike" dirty="0">
                <a:solidFill>
                  <a:srgbClr val="000000"/>
                </a:solidFill>
                <a:effectLst/>
                <a:latin typeface="Times New Roman" panose="02020603050405020304" pitchFamily="18" charset="0"/>
                <a:cs typeface="Times New Roman" panose="02020603050405020304" pitchFamily="18" charset="0"/>
              </a:rPr>
              <a:t>. Which departments </a:t>
            </a:r>
            <a:r>
              <a:rPr lang="en-US" sz="2400" dirty="0">
                <a:latin typeface="Times New Roman" panose="02020603050405020304" pitchFamily="18" charset="0"/>
                <a:cs typeface="Times New Roman" panose="02020603050405020304" pitchFamily="18" charset="0"/>
              </a:rPr>
              <a:t>have</a:t>
            </a:r>
            <a:r>
              <a:rPr lang="en-US" sz="2400" b="0" i="0" u="none" strike="noStrike" dirty="0">
                <a:solidFill>
                  <a:srgbClr val="000000"/>
                </a:solidFill>
                <a:effectLst/>
                <a:latin typeface="Times New Roman" panose="02020603050405020304" pitchFamily="18" charset="0"/>
                <a:cs typeface="Times New Roman" panose="02020603050405020304" pitchFamily="18" charset="0"/>
              </a:rPr>
              <a:t> the highest number of employees?</a:t>
            </a:r>
            <a:endParaRPr lang="en-US"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22C82AE-04CF-4307-B878-A1049061C46B}"/>
              </a:ext>
            </a:extLst>
          </p:cNvPr>
          <p:cNvPicPr>
            <a:picLocks noChangeAspect="1"/>
          </p:cNvPicPr>
          <p:nvPr/>
        </p:nvPicPr>
        <p:blipFill>
          <a:blip r:embed="rId3"/>
          <a:stretch>
            <a:fillRect/>
          </a:stretch>
        </p:blipFill>
        <p:spPr>
          <a:xfrm>
            <a:off x="9746013" y="2013968"/>
            <a:ext cx="2066925" cy="1895475"/>
          </a:xfrm>
          <a:prstGeom prst="rect">
            <a:avLst/>
          </a:prstGeom>
        </p:spPr>
      </p:pic>
      <p:pic>
        <p:nvPicPr>
          <p:cNvPr id="14" name="Picture 13">
            <a:extLst>
              <a:ext uri="{FF2B5EF4-FFF2-40B4-BE49-F238E27FC236}">
                <a16:creationId xmlns:a16="http://schemas.microsoft.com/office/drawing/2014/main" id="{CA1C59C9-EE07-5242-4A46-B3227FA3C57F}"/>
              </a:ext>
            </a:extLst>
          </p:cNvPr>
          <p:cNvPicPr>
            <a:picLocks noChangeAspect="1"/>
          </p:cNvPicPr>
          <p:nvPr/>
        </p:nvPicPr>
        <p:blipFill>
          <a:blip r:embed="rId4"/>
          <a:stretch>
            <a:fillRect/>
          </a:stretch>
        </p:blipFill>
        <p:spPr>
          <a:xfrm>
            <a:off x="1352944" y="2328397"/>
            <a:ext cx="4610743" cy="1619476"/>
          </a:xfrm>
          <a:prstGeom prst="rect">
            <a:avLst/>
          </a:prstGeom>
        </p:spPr>
      </p:pic>
      <p:sp>
        <p:nvSpPr>
          <p:cNvPr id="18" name="TextBox 17">
            <a:extLst>
              <a:ext uri="{FF2B5EF4-FFF2-40B4-BE49-F238E27FC236}">
                <a16:creationId xmlns:a16="http://schemas.microsoft.com/office/drawing/2014/main" id="{F1BA9E61-E546-3240-7851-3E0A49F5F156}"/>
              </a:ext>
            </a:extLst>
          </p:cNvPr>
          <p:cNvSpPr txBox="1"/>
          <p:nvPr/>
        </p:nvSpPr>
        <p:spPr>
          <a:xfrm>
            <a:off x="774840" y="1928287"/>
            <a:ext cx="1291123" cy="400110"/>
          </a:xfrm>
          <a:prstGeom prst="rect">
            <a:avLst/>
          </a:prstGeom>
          <a:noFill/>
        </p:spPr>
        <p:txBody>
          <a:bodyPr wrap="square">
            <a:spAutoFit/>
          </a:bodyPr>
          <a:lstStyle/>
          <a:p>
            <a:r>
              <a:rPr lang="en-US" sz="2000" b="1" dirty="0"/>
              <a:t>QUERY:</a:t>
            </a:r>
          </a:p>
        </p:txBody>
      </p:sp>
      <p:sp>
        <p:nvSpPr>
          <p:cNvPr id="20" name="TextBox 19">
            <a:extLst>
              <a:ext uri="{FF2B5EF4-FFF2-40B4-BE49-F238E27FC236}">
                <a16:creationId xmlns:a16="http://schemas.microsoft.com/office/drawing/2014/main" id="{71FD6493-A626-9D1B-98CC-B4ABB5DCA210}"/>
              </a:ext>
            </a:extLst>
          </p:cNvPr>
          <p:cNvSpPr txBox="1"/>
          <p:nvPr/>
        </p:nvSpPr>
        <p:spPr>
          <a:xfrm>
            <a:off x="8973715" y="1682416"/>
            <a:ext cx="1336610" cy="400110"/>
          </a:xfrm>
          <a:prstGeom prst="rect">
            <a:avLst/>
          </a:prstGeom>
          <a:noFill/>
        </p:spPr>
        <p:txBody>
          <a:bodyPr wrap="square">
            <a:spAutoFit/>
          </a:bodyPr>
          <a:lstStyle/>
          <a:p>
            <a:r>
              <a:rPr lang="en-US" sz="2000" b="1" dirty="0"/>
              <a:t>OUTPUT:</a:t>
            </a:r>
          </a:p>
        </p:txBody>
      </p:sp>
      <p:sp>
        <p:nvSpPr>
          <p:cNvPr id="22" name="TextBox 21">
            <a:extLst>
              <a:ext uri="{FF2B5EF4-FFF2-40B4-BE49-F238E27FC236}">
                <a16:creationId xmlns:a16="http://schemas.microsoft.com/office/drawing/2014/main" id="{276D1F2E-83C6-61AD-0AC8-72DB63E6F542}"/>
              </a:ext>
            </a:extLst>
          </p:cNvPr>
          <p:cNvSpPr txBox="1"/>
          <p:nvPr/>
        </p:nvSpPr>
        <p:spPr>
          <a:xfrm>
            <a:off x="234248" y="4023685"/>
            <a:ext cx="2372308" cy="400110"/>
          </a:xfrm>
          <a:prstGeom prst="rect">
            <a:avLst/>
          </a:prstGeom>
          <a:noFill/>
        </p:spPr>
        <p:txBody>
          <a:bodyPr wrap="square">
            <a:spAutoFit/>
          </a:bodyPr>
          <a:lstStyle/>
          <a:p>
            <a:r>
              <a:rPr lang="en-US" sz="2000" b="1" dirty="0"/>
              <a:t>KEY INSIGHTS:</a:t>
            </a:r>
          </a:p>
        </p:txBody>
      </p:sp>
      <p:sp>
        <p:nvSpPr>
          <p:cNvPr id="24" name="TextBox 23">
            <a:extLst>
              <a:ext uri="{FF2B5EF4-FFF2-40B4-BE49-F238E27FC236}">
                <a16:creationId xmlns:a16="http://schemas.microsoft.com/office/drawing/2014/main" id="{D9D2BAA3-1E8F-3FCF-1DF6-9687BDC5A2A9}"/>
              </a:ext>
            </a:extLst>
          </p:cNvPr>
          <p:cNvSpPr txBox="1"/>
          <p:nvPr/>
        </p:nvSpPr>
        <p:spPr>
          <a:xfrm>
            <a:off x="248427" y="4686790"/>
            <a:ext cx="11713417" cy="1200329"/>
          </a:xfrm>
          <a:prstGeom prst="rect">
            <a:avLst/>
          </a:prstGeom>
          <a:noFill/>
        </p:spPr>
        <p:txBody>
          <a:bodyPr wrap="square">
            <a:spAutoFit/>
          </a:bodyPr>
          <a:lstStyle/>
          <a:p>
            <a:pPr marL="285750" indent="-285750" algn="just">
              <a:buFont typeface="Wingdings" panose="05000000000000000000" pitchFamily="2" charset="2"/>
              <a:buChar char="ü"/>
            </a:pPr>
            <a:r>
              <a:rPr lang="en-US" sz="1800" dirty="0"/>
              <a:t>Finance and IT departments have the highest workforce, with 9 employees each, indicating greater staffing requirements.</a:t>
            </a:r>
          </a:p>
          <a:p>
            <a:pPr marL="285750" indent="-285750" algn="just">
              <a:buFont typeface="Wingdings" panose="05000000000000000000" pitchFamily="2" charset="2"/>
              <a:buChar char="ü"/>
            </a:pPr>
            <a:r>
              <a:rPr lang="en-US" sz="1800" dirty="0"/>
              <a:t>The Legal department has the fewest employees (5), suggesting it operates with a smaller team compared to other departments.</a:t>
            </a:r>
          </a:p>
        </p:txBody>
      </p:sp>
    </p:spTree>
    <p:extLst>
      <p:ext uri="{BB962C8B-B14F-4D97-AF65-F5344CB8AC3E}">
        <p14:creationId xmlns:p14="http://schemas.microsoft.com/office/powerpoint/2010/main" val="141581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F6827BCF-653A-ACAB-6469-E509509076A2}"/>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D5B7B8C-6E15-7E49-1D11-64A974D7ECD0}"/>
              </a:ext>
            </a:extLst>
          </p:cNvPr>
          <p:cNvSpPr txBox="1"/>
          <p:nvPr/>
        </p:nvSpPr>
        <p:spPr>
          <a:xfrm>
            <a:off x="258925" y="989112"/>
            <a:ext cx="8474529" cy="492443"/>
          </a:xfrm>
          <a:prstGeom prst="rect">
            <a:avLst/>
          </a:prstGeom>
          <a:noFill/>
        </p:spPr>
        <p:txBody>
          <a:bodyPr wrap="square">
            <a:spAutoFit/>
          </a:bodyPr>
          <a:lstStyle/>
          <a:p>
            <a:r>
              <a:rPr lang="en-US" sz="2600" dirty="0"/>
              <a:t>B . What is the average salary per department?</a:t>
            </a:r>
          </a:p>
        </p:txBody>
      </p:sp>
      <p:sp>
        <p:nvSpPr>
          <p:cNvPr id="7" name="TextBox 6">
            <a:extLst>
              <a:ext uri="{FF2B5EF4-FFF2-40B4-BE49-F238E27FC236}">
                <a16:creationId xmlns:a16="http://schemas.microsoft.com/office/drawing/2014/main" id="{EFB6BEE2-E23B-47FD-97BF-E2ABBF287453}"/>
              </a:ext>
            </a:extLst>
          </p:cNvPr>
          <p:cNvSpPr txBox="1"/>
          <p:nvPr/>
        </p:nvSpPr>
        <p:spPr>
          <a:xfrm>
            <a:off x="258925" y="241337"/>
            <a:ext cx="6172200" cy="646331"/>
          </a:xfrm>
          <a:prstGeom prst="rect">
            <a:avLst/>
          </a:prstGeom>
          <a:noFill/>
        </p:spPr>
        <p:txBody>
          <a:bodyPr wrap="square">
            <a:spAutoFit/>
          </a:bodyPr>
          <a:lstStyle/>
          <a:p>
            <a:r>
              <a:rPr lang="en-US" sz="3600" b="1" i="0" u="none" strike="noStrike" dirty="0">
                <a:solidFill>
                  <a:srgbClr val="000000"/>
                </a:solidFill>
                <a:effectLst/>
                <a:latin typeface="Times New Roman" panose="02020603050405020304" pitchFamily="18" charset="0"/>
                <a:cs typeface="Times New Roman" panose="02020603050405020304" pitchFamily="18" charset="0"/>
              </a:rPr>
              <a:t>EMPLOYEE ANALYSIS</a:t>
            </a:r>
            <a:endParaRPr lang="en-US" sz="3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A9BA9F0-94CE-A310-7589-1E6FB7612908}"/>
              </a:ext>
            </a:extLst>
          </p:cNvPr>
          <p:cNvPicPr>
            <a:picLocks noChangeAspect="1"/>
          </p:cNvPicPr>
          <p:nvPr/>
        </p:nvPicPr>
        <p:blipFill>
          <a:blip r:embed="rId3"/>
          <a:stretch>
            <a:fillRect/>
          </a:stretch>
        </p:blipFill>
        <p:spPr>
          <a:xfrm>
            <a:off x="824934" y="2366420"/>
            <a:ext cx="3991532" cy="1314633"/>
          </a:xfrm>
          <a:prstGeom prst="rect">
            <a:avLst/>
          </a:prstGeom>
        </p:spPr>
      </p:pic>
      <p:sp>
        <p:nvSpPr>
          <p:cNvPr id="11" name="TextBox 10">
            <a:extLst>
              <a:ext uri="{FF2B5EF4-FFF2-40B4-BE49-F238E27FC236}">
                <a16:creationId xmlns:a16="http://schemas.microsoft.com/office/drawing/2014/main" id="{163A6AFD-526D-FE13-9A72-DD168945A312}"/>
              </a:ext>
            </a:extLst>
          </p:cNvPr>
          <p:cNvSpPr txBox="1"/>
          <p:nvPr/>
        </p:nvSpPr>
        <p:spPr>
          <a:xfrm>
            <a:off x="645114" y="1966310"/>
            <a:ext cx="1205982" cy="400110"/>
          </a:xfrm>
          <a:prstGeom prst="rect">
            <a:avLst/>
          </a:prstGeom>
          <a:noFill/>
        </p:spPr>
        <p:txBody>
          <a:bodyPr wrap="square">
            <a:spAutoFit/>
          </a:bodyPr>
          <a:lstStyle/>
          <a:p>
            <a:r>
              <a:rPr lang="en-US" sz="2000" b="1" dirty="0"/>
              <a:t>QUERY:</a:t>
            </a:r>
          </a:p>
        </p:txBody>
      </p:sp>
      <p:pic>
        <p:nvPicPr>
          <p:cNvPr id="13" name="Picture 12">
            <a:extLst>
              <a:ext uri="{FF2B5EF4-FFF2-40B4-BE49-F238E27FC236}">
                <a16:creationId xmlns:a16="http://schemas.microsoft.com/office/drawing/2014/main" id="{D6D21759-77A9-92F2-5798-33973A2962D8}"/>
              </a:ext>
            </a:extLst>
          </p:cNvPr>
          <p:cNvPicPr>
            <a:picLocks noChangeAspect="1"/>
          </p:cNvPicPr>
          <p:nvPr/>
        </p:nvPicPr>
        <p:blipFill>
          <a:blip r:embed="rId4"/>
          <a:stretch>
            <a:fillRect/>
          </a:stretch>
        </p:blipFill>
        <p:spPr>
          <a:xfrm>
            <a:off x="9002095" y="2166365"/>
            <a:ext cx="2429214" cy="2076740"/>
          </a:xfrm>
          <a:prstGeom prst="rect">
            <a:avLst/>
          </a:prstGeom>
        </p:spPr>
      </p:pic>
      <p:sp>
        <p:nvSpPr>
          <p:cNvPr id="15" name="TextBox 14">
            <a:extLst>
              <a:ext uri="{FF2B5EF4-FFF2-40B4-BE49-F238E27FC236}">
                <a16:creationId xmlns:a16="http://schemas.microsoft.com/office/drawing/2014/main" id="{6DF0C7CE-E0A9-33B9-8DD8-C5EA3B2EEC1B}"/>
              </a:ext>
            </a:extLst>
          </p:cNvPr>
          <p:cNvSpPr txBox="1"/>
          <p:nvPr/>
        </p:nvSpPr>
        <p:spPr>
          <a:xfrm>
            <a:off x="8032491" y="1766255"/>
            <a:ext cx="1401925" cy="400110"/>
          </a:xfrm>
          <a:prstGeom prst="rect">
            <a:avLst/>
          </a:prstGeom>
          <a:noFill/>
        </p:spPr>
        <p:txBody>
          <a:bodyPr wrap="square">
            <a:spAutoFit/>
          </a:bodyPr>
          <a:lstStyle/>
          <a:p>
            <a:r>
              <a:rPr lang="en-US" sz="2000" b="1" dirty="0"/>
              <a:t>OUTPUT:</a:t>
            </a:r>
          </a:p>
        </p:txBody>
      </p:sp>
      <p:sp>
        <p:nvSpPr>
          <p:cNvPr id="17" name="TextBox 16">
            <a:extLst>
              <a:ext uri="{FF2B5EF4-FFF2-40B4-BE49-F238E27FC236}">
                <a16:creationId xmlns:a16="http://schemas.microsoft.com/office/drawing/2014/main" id="{081DBD9E-AB2F-C492-6E83-F74F87FDD6FE}"/>
              </a:ext>
            </a:extLst>
          </p:cNvPr>
          <p:cNvSpPr txBox="1"/>
          <p:nvPr/>
        </p:nvSpPr>
        <p:spPr>
          <a:xfrm>
            <a:off x="342900" y="4243105"/>
            <a:ext cx="2148374" cy="400110"/>
          </a:xfrm>
          <a:prstGeom prst="rect">
            <a:avLst/>
          </a:prstGeom>
          <a:noFill/>
        </p:spPr>
        <p:txBody>
          <a:bodyPr wrap="square">
            <a:spAutoFit/>
          </a:bodyPr>
          <a:lstStyle/>
          <a:p>
            <a:r>
              <a:rPr lang="en-US" sz="2000" b="1" dirty="0"/>
              <a:t>KEY INSIGHTS:</a:t>
            </a:r>
          </a:p>
        </p:txBody>
      </p:sp>
      <p:sp>
        <p:nvSpPr>
          <p:cNvPr id="19" name="TextBox 18">
            <a:extLst>
              <a:ext uri="{FF2B5EF4-FFF2-40B4-BE49-F238E27FC236}">
                <a16:creationId xmlns:a16="http://schemas.microsoft.com/office/drawing/2014/main" id="{EFB105E9-E064-B4B0-9CA6-454EADBF1D3E}"/>
              </a:ext>
            </a:extLst>
          </p:cNvPr>
          <p:cNvSpPr txBox="1"/>
          <p:nvPr/>
        </p:nvSpPr>
        <p:spPr>
          <a:xfrm>
            <a:off x="482859" y="4914781"/>
            <a:ext cx="11152414" cy="1323439"/>
          </a:xfrm>
          <a:prstGeom prst="rect">
            <a:avLst/>
          </a:prstGeom>
          <a:noFill/>
        </p:spPr>
        <p:txBody>
          <a:bodyPr wrap="square">
            <a:spAutoFit/>
          </a:bodyPr>
          <a:lstStyle/>
          <a:p>
            <a:pPr marL="285750" indent="-285750" algn="just">
              <a:buFont typeface="Wingdings" panose="05000000000000000000" pitchFamily="2" charset="2"/>
              <a:buChar char="ü"/>
            </a:pPr>
            <a:r>
              <a:rPr lang="en-US" sz="2000" dirty="0"/>
              <a:t>The Legal department offers the highest average salary (84, 600), indicating higher compensation compared to other departments.</a:t>
            </a:r>
          </a:p>
          <a:p>
            <a:pPr marL="285750" indent="-285750" algn="just">
              <a:buFont typeface="Wingdings" panose="05000000000000000000" pitchFamily="2" charset="2"/>
              <a:buChar char="ü"/>
            </a:pPr>
            <a:r>
              <a:rPr lang="en-US" sz="2000" dirty="0"/>
              <a:t>The HR department has the lowest average salary (approximately *62, 571), while most other departments have average salaries between 65, 000 and -81, 000.</a:t>
            </a:r>
          </a:p>
        </p:txBody>
      </p:sp>
    </p:spTree>
    <p:extLst>
      <p:ext uri="{BB962C8B-B14F-4D97-AF65-F5344CB8AC3E}">
        <p14:creationId xmlns:p14="http://schemas.microsoft.com/office/powerpoint/2010/main" val="88286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 People Business PowerPoint Background Download | CBEditz">
            <a:extLst>
              <a:ext uri="{FF2B5EF4-FFF2-40B4-BE49-F238E27FC236}">
                <a16:creationId xmlns:a16="http://schemas.microsoft.com/office/drawing/2014/main" id="{D4686EC7-2D13-598B-5347-BC792734B285}"/>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9036128-5913-4894-3304-F96061641A54}"/>
              </a:ext>
            </a:extLst>
          </p:cNvPr>
          <p:cNvSpPr txBox="1"/>
          <p:nvPr/>
        </p:nvSpPr>
        <p:spPr>
          <a:xfrm>
            <a:off x="398884" y="138700"/>
            <a:ext cx="6172200" cy="646331"/>
          </a:xfrm>
          <a:prstGeom prst="rect">
            <a:avLst/>
          </a:prstGeom>
          <a:noFill/>
        </p:spPr>
        <p:txBody>
          <a:bodyPr wrap="square">
            <a:spAutoFit/>
          </a:bodyPr>
          <a:lstStyle/>
          <a:p>
            <a:r>
              <a:rPr lang="en-US" sz="3600" b="1" i="0" u="none" strike="noStrike" dirty="0">
                <a:solidFill>
                  <a:srgbClr val="000000"/>
                </a:solidFill>
                <a:effectLst/>
                <a:latin typeface="Times New Roman" panose="02020603050405020304" pitchFamily="18" charset="0"/>
                <a:cs typeface="Times New Roman" panose="02020603050405020304" pitchFamily="18" charset="0"/>
              </a:rPr>
              <a:t>EMPLOYEE ANALYSIS</a:t>
            </a:r>
            <a:endParaRPr lang="en-US" sz="3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2EABA67-32E5-9643-ECDA-9122670A3A45}"/>
              </a:ext>
            </a:extLst>
          </p:cNvPr>
          <p:cNvSpPr txBox="1"/>
          <p:nvPr/>
        </p:nvSpPr>
        <p:spPr>
          <a:xfrm>
            <a:off x="326572" y="933062"/>
            <a:ext cx="9787811" cy="492443"/>
          </a:xfrm>
          <a:prstGeom prst="rect">
            <a:avLst/>
          </a:prstGeom>
          <a:noFill/>
        </p:spPr>
        <p:txBody>
          <a:bodyPr wrap="square">
            <a:spAutoFit/>
          </a:bodyPr>
          <a:lstStyle/>
          <a:p>
            <a:r>
              <a:rPr lang="en-US" sz="2600" dirty="0"/>
              <a:t>C .What is the total salary expenditure across the company?</a:t>
            </a:r>
          </a:p>
        </p:txBody>
      </p:sp>
      <p:sp>
        <p:nvSpPr>
          <p:cNvPr id="17" name="TextBox 16">
            <a:extLst>
              <a:ext uri="{FF2B5EF4-FFF2-40B4-BE49-F238E27FC236}">
                <a16:creationId xmlns:a16="http://schemas.microsoft.com/office/drawing/2014/main" id="{F7780B15-4A3E-1B4D-B116-B0F14CBE854F}"/>
              </a:ext>
            </a:extLst>
          </p:cNvPr>
          <p:cNvSpPr txBox="1"/>
          <p:nvPr/>
        </p:nvSpPr>
        <p:spPr>
          <a:xfrm>
            <a:off x="716124" y="1727424"/>
            <a:ext cx="6172200" cy="400110"/>
          </a:xfrm>
          <a:prstGeom prst="rect">
            <a:avLst/>
          </a:prstGeom>
          <a:noFill/>
        </p:spPr>
        <p:txBody>
          <a:bodyPr wrap="square">
            <a:spAutoFit/>
          </a:bodyPr>
          <a:lstStyle/>
          <a:p>
            <a:r>
              <a:rPr lang="en-US" sz="2000" b="1" dirty="0"/>
              <a:t>QUERY:</a:t>
            </a:r>
          </a:p>
        </p:txBody>
      </p:sp>
      <p:sp>
        <p:nvSpPr>
          <p:cNvPr id="25" name="TextBox 24">
            <a:extLst>
              <a:ext uri="{FF2B5EF4-FFF2-40B4-BE49-F238E27FC236}">
                <a16:creationId xmlns:a16="http://schemas.microsoft.com/office/drawing/2014/main" id="{58A6D815-7D5C-5502-D4EC-B72461DF3DA6}"/>
              </a:ext>
            </a:extLst>
          </p:cNvPr>
          <p:cNvSpPr txBox="1"/>
          <p:nvPr/>
        </p:nvSpPr>
        <p:spPr>
          <a:xfrm>
            <a:off x="8027077" y="1944461"/>
            <a:ext cx="1831133" cy="400110"/>
          </a:xfrm>
          <a:prstGeom prst="rect">
            <a:avLst/>
          </a:prstGeom>
          <a:noFill/>
        </p:spPr>
        <p:txBody>
          <a:bodyPr wrap="square">
            <a:spAutoFit/>
          </a:bodyPr>
          <a:lstStyle/>
          <a:p>
            <a:r>
              <a:rPr lang="en-US" sz="2000" b="1" dirty="0"/>
              <a:t>OUTPUT:</a:t>
            </a:r>
          </a:p>
        </p:txBody>
      </p:sp>
      <p:pic>
        <p:nvPicPr>
          <p:cNvPr id="27" name="Picture 26">
            <a:extLst>
              <a:ext uri="{FF2B5EF4-FFF2-40B4-BE49-F238E27FC236}">
                <a16:creationId xmlns:a16="http://schemas.microsoft.com/office/drawing/2014/main" id="{C291F92F-52E6-B107-CF7C-1C6F97C9BBDB}"/>
              </a:ext>
            </a:extLst>
          </p:cNvPr>
          <p:cNvPicPr>
            <a:picLocks noChangeAspect="1"/>
          </p:cNvPicPr>
          <p:nvPr/>
        </p:nvPicPr>
        <p:blipFill>
          <a:blip r:embed="rId3"/>
          <a:stretch>
            <a:fillRect/>
          </a:stretch>
        </p:blipFill>
        <p:spPr>
          <a:xfrm>
            <a:off x="8027077" y="2439042"/>
            <a:ext cx="3296110" cy="543001"/>
          </a:xfrm>
          <a:prstGeom prst="rect">
            <a:avLst/>
          </a:prstGeom>
        </p:spPr>
      </p:pic>
      <p:pic>
        <p:nvPicPr>
          <p:cNvPr id="29" name="Picture 28">
            <a:extLst>
              <a:ext uri="{FF2B5EF4-FFF2-40B4-BE49-F238E27FC236}">
                <a16:creationId xmlns:a16="http://schemas.microsoft.com/office/drawing/2014/main" id="{6AEAAEFD-3D52-EAB3-4BB0-ADFEBDB5D1D3}"/>
              </a:ext>
            </a:extLst>
          </p:cNvPr>
          <p:cNvPicPr>
            <a:picLocks noChangeAspect="1"/>
          </p:cNvPicPr>
          <p:nvPr/>
        </p:nvPicPr>
        <p:blipFill>
          <a:blip r:embed="rId4"/>
          <a:stretch>
            <a:fillRect/>
          </a:stretch>
        </p:blipFill>
        <p:spPr>
          <a:xfrm>
            <a:off x="716124" y="2344571"/>
            <a:ext cx="6442140" cy="1181265"/>
          </a:xfrm>
          <a:prstGeom prst="rect">
            <a:avLst/>
          </a:prstGeom>
        </p:spPr>
      </p:pic>
      <p:sp>
        <p:nvSpPr>
          <p:cNvPr id="31" name="TextBox 30">
            <a:extLst>
              <a:ext uri="{FF2B5EF4-FFF2-40B4-BE49-F238E27FC236}">
                <a16:creationId xmlns:a16="http://schemas.microsoft.com/office/drawing/2014/main" id="{193DEBF7-A1DB-86DD-1DFB-90266FA5110B}"/>
              </a:ext>
            </a:extLst>
          </p:cNvPr>
          <p:cNvSpPr txBox="1"/>
          <p:nvPr/>
        </p:nvSpPr>
        <p:spPr>
          <a:xfrm>
            <a:off x="398884" y="4244847"/>
            <a:ext cx="6172200" cy="400110"/>
          </a:xfrm>
          <a:prstGeom prst="rect">
            <a:avLst/>
          </a:prstGeom>
          <a:noFill/>
        </p:spPr>
        <p:txBody>
          <a:bodyPr wrap="square">
            <a:spAutoFit/>
          </a:bodyPr>
          <a:lstStyle/>
          <a:p>
            <a:r>
              <a:rPr lang="en-US" sz="2000" b="1" dirty="0"/>
              <a:t>KEY INSIGHTS:</a:t>
            </a:r>
          </a:p>
        </p:txBody>
      </p:sp>
      <p:sp>
        <p:nvSpPr>
          <p:cNvPr id="33" name="TextBox 32">
            <a:extLst>
              <a:ext uri="{FF2B5EF4-FFF2-40B4-BE49-F238E27FC236}">
                <a16:creationId xmlns:a16="http://schemas.microsoft.com/office/drawing/2014/main" id="{1FA67343-90A2-4ECA-7B4D-70BDA0C293BE}"/>
              </a:ext>
            </a:extLst>
          </p:cNvPr>
          <p:cNvSpPr txBox="1"/>
          <p:nvPr/>
        </p:nvSpPr>
        <p:spPr>
          <a:xfrm>
            <a:off x="263590" y="4946876"/>
            <a:ext cx="11637607" cy="1015663"/>
          </a:xfrm>
          <a:prstGeom prst="rect">
            <a:avLst/>
          </a:prstGeom>
          <a:noFill/>
        </p:spPr>
        <p:txBody>
          <a:bodyPr wrap="square">
            <a:spAutoFit/>
          </a:bodyPr>
          <a:lstStyle/>
          <a:p>
            <a:pPr marL="285750" indent="-285750" algn="just">
              <a:buFont typeface="Wingdings" panose="05000000000000000000" pitchFamily="2" charset="2"/>
              <a:buChar char="ü"/>
            </a:pPr>
            <a:r>
              <a:rPr lang="en-US" sz="2000" dirty="0"/>
              <a:t>The company has a total of 60 employees with an overall salary expenditure of -43, 21, 000.</a:t>
            </a:r>
          </a:p>
          <a:p>
            <a:pPr marL="285750" indent="-285750" algn="just">
              <a:buFont typeface="Wingdings" panose="05000000000000000000" pitchFamily="2" charset="2"/>
              <a:buChar char="ü"/>
            </a:pPr>
            <a:r>
              <a:rPr lang="en-US" sz="2000" dirty="0"/>
              <a:t>The total salary expenditure provides a clear view of the company's payroll budget, helping in financial planning and resource allocation.</a:t>
            </a:r>
          </a:p>
        </p:txBody>
      </p:sp>
    </p:spTree>
    <p:extLst>
      <p:ext uri="{BB962C8B-B14F-4D97-AF65-F5344CB8AC3E}">
        <p14:creationId xmlns:p14="http://schemas.microsoft.com/office/powerpoint/2010/main" val="199694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1FB4ED1C-974A-2FCF-742E-351D8D90332F}"/>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2CC0EE2-13B8-C6F1-8405-F7D38336E84B}"/>
              </a:ext>
            </a:extLst>
          </p:cNvPr>
          <p:cNvSpPr txBox="1"/>
          <p:nvPr/>
        </p:nvSpPr>
        <p:spPr>
          <a:xfrm>
            <a:off x="314909" y="205340"/>
            <a:ext cx="9323614" cy="615553"/>
          </a:xfrm>
          <a:prstGeom prst="rect">
            <a:avLst/>
          </a:prstGeom>
          <a:noFill/>
        </p:spPr>
        <p:txBody>
          <a:bodyPr wrap="square">
            <a:spAutoFit/>
          </a:bodyPr>
          <a:lstStyle/>
          <a:p>
            <a:r>
              <a:rPr lang="en-US" sz="3400" b="1" dirty="0"/>
              <a:t>JOB ROLE AND DEPARTMENT ANALYSIS</a:t>
            </a:r>
          </a:p>
        </p:txBody>
      </p:sp>
      <p:sp>
        <p:nvSpPr>
          <p:cNvPr id="7" name="TextBox 6">
            <a:extLst>
              <a:ext uri="{FF2B5EF4-FFF2-40B4-BE49-F238E27FC236}">
                <a16:creationId xmlns:a16="http://schemas.microsoft.com/office/drawing/2014/main" id="{553F12C6-963C-03CD-0987-870553C54F6E}"/>
              </a:ext>
            </a:extLst>
          </p:cNvPr>
          <p:cNvSpPr txBox="1"/>
          <p:nvPr/>
        </p:nvSpPr>
        <p:spPr>
          <a:xfrm>
            <a:off x="426875" y="1157062"/>
            <a:ext cx="6172200" cy="492443"/>
          </a:xfrm>
          <a:prstGeom prst="rect">
            <a:avLst/>
          </a:prstGeom>
          <a:noFill/>
        </p:spPr>
        <p:txBody>
          <a:bodyPr wrap="square">
            <a:spAutoFit/>
          </a:bodyPr>
          <a:lstStyle/>
          <a:p>
            <a:r>
              <a:rPr lang="en-US" sz="2600" dirty="0"/>
              <a:t>Which job roles offer the highest salary?</a:t>
            </a:r>
          </a:p>
        </p:txBody>
      </p:sp>
      <p:sp>
        <p:nvSpPr>
          <p:cNvPr id="9" name="TextBox 8">
            <a:extLst>
              <a:ext uri="{FF2B5EF4-FFF2-40B4-BE49-F238E27FC236}">
                <a16:creationId xmlns:a16="http://schemas.microsoft.com/office/drawing/2014/main" id="{34D20842-C9D4-5D52-3360-D70FFD3A212D}"/>
              </a:ext>
            </a:extLst>
          </p:cNvPr>
          <p:cNvSpPr txBox="1"/>
          <p:nvPr/>
        </p:nvSpPr>
        <p:spPr>
          <a:xfrm>
            <a:off x="314909" y="4616556"/>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KEY INSIGHTS:</a:t>
            </a:r>
            <a:endParaRPr lang="en-US" dirty="0">
              <a:effectLst/>
            </a:endParaRPr>
          </a:p>
        </p:txBody>
      </p:sp>
      <p:sp>
        <p:nvSpPr>
          <p:cNvPr id="11" name="TextBox 10">
            <a:extLst>
              <a:ext uri="{FF2B5EF4-FFF2-40B4-BE49-F238E27FC236}">
                <a16:creationId xmlns:a16="http://schemas.microsoft.com/office/drawing/2014/main" id="{5E7CAAFB-98B3-66FC-A367-D0C8E4E2C297}"/>
              </a:ext>
            </a:extLst>
          </p:cNvPr>
          <p:cNvSpPr txBox="1"/>
          <p:nvPr/>
        </p:nvSpPr>
        <p:spPr>
          <a:xfrm>
            <a:off x="809431" y="1950652"/>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dirty="0">
              <a:effectLst/>
            </a:endParaRPr>
          </a:p>
        </p:txBody>
      </p:sp>
      <p:pic>
        <p:nvPicPr>
          <p:cNvPr id="17" name="Picture 16">
            <a:extLst>
              <a:ext uri="{FF2B5EF4-FFF2-40B4-BE49-F238E27FC236}">
                <a16:creationId xmlns:a16="http://schemas.microsoft.com/office/drawing/2014/main" id="{BFF99032-466B-540E-E547-298A31D03038}"/>
              </a:ext>
            </a:extLst>
          </p:cNvPr>
          <p:cNvPicPr>
            <a:picLocks noChangeAspect="1"/>
          </p:cNvPicPr>
          <p:nvPr/>
        </p:nvPicPr>
        <p:blipFill>
          <a:blip r:embed="rId3"/>
          <a:stretch>
            <a:fillRect/>
          </a:stretch>
        </p:blipFill>
        <p:spPr>
          <a:xfrm>
            <a:off x="655281" y="2442483"/>
            <a:ext cx="3781425" cy="1581150"/>
          </a:xfrm>
          <a:prstGeom prst="rect">
            <a:avLst/>
          </a:prstGeom>
        </p:spPr>
      </p:pic>
      <p:pic>
        <p:nvPicPr>
          <p:cNvPr id="19" name="Picture 18">
            <a:extLst>
              <a:ext uri="{FF2B5EF4-FFF2-40B4-BE49-F238E27FC236}">
                <a16:creationId xmlns:a16="http://schemas.microsoft.com/office/drawing/2014/main" id="{FD32ACC1-8C2A-1597-6AC8-AA36B1990A1F}"/>
              </a:ext>
            </a:extLst>
          </p:cNvPr>
          <p:cNvPicPr>
            <a:picLocks noChangeAspect="1"/>
          </p:cNvPicPr>
          <p:nvPr/>
        </p:nvPicPr>
        <p:blipFill>
          <a:blip r:embed="rId4"/>
          <a:stretch>
            <a:fillRect/>
          </a:stretch>
        </p:blipFill>
        <p:spPr>
          <a:xfrm>
            <a:off x="6981631" y="2251799"/>
            <a:ext cx="4610743" cy="2429214"/>
          </a:xfrm>
          <a:prstGeom prst="rect">
            <a:avLst/>
          </a:prstGeom>
        </p:spPr>
      </p:pic>
      <p:sp>
        <p:nvSpPr>
          <p:cNvPr id="21" name="TextBox 20">
            <a:extLst>
              <a:ext uri="{FF2B5EF4-FFF2-40B4-BE49-F238E27FC236}">
                <a16:creationId xmlns:a16="http://schemas.microsoft.com/office/drawing/2014/main" id="{0DE0E4C7-2F42-92CF-2D2C-CDBC3DB49BB8}"/>
              </a:ext>
            </a:extLst>
          </p:cNvPr>
          <p:cNvSpPr txBox="1"/>
          <p:nvPr/>
        </p:nvSpPr>
        <p:spPr>
          <a:xfrm>
            <a:off x="6852169" y="1796458"/>
            <a:ext cx="1877786" cy="400110"/>
          </a:xfrm>
          <a:prstGeom prst="rect">
            <a:avLst/>
          </a:prstGeom>
          <a:noFill/>
        </p:spPr>
        <p:txBody>
          <a:bodyPr wrap="square">
            <a:spAutoFit/>
          </a:bodyPr>
          <a:lstStyle/>
          <a:p>
            <a:r>
              <a:rPr lang="en-US" sz="2000" b="1" dirty="0"/>
              <a:t>OUTPUT:</a:t>
            </a:r>
          </a:p>
        </p:txBody>
      </p:sp>
      <p:sp>
        <p:nvSpPr>
          <p:cNvPr id="23" name="TextBox 22">
            <a:extLst>
              <a:ext uri="{FF2B5EF4-FFF2-40B4-BE49-F238E27FC236}">
                <a16:creationId xmlns:a16="http://schemas.microsoft.com/office/drawing/2014/main" id="{2F619F07-5E41-CB90-8A2C-2888F63A58DD}"/>
              </a:ext>
            </a:extLst>
          </p:cNvPr>
          <p:cNvSpPr txBox="1"/>
          <p:nvPr/>
        </p:nvSpPr>
        <p:spPr>
          <a:xfrm>
            <a:off x="426875" y="5163619"/>
            <a:ext cx="11165499"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Finance Director is the highest-paid job role with a salary of 1,70, 000, followed by Engineering Director (1,60, 000) and Marketing Director (1,50, 000).</a:t>
            </a:r>
          </a:p>
          <a:p>
            <a:pPr marL="342900" indent="-342900" algn="just">
              <a:buFont typeface="Wingdings" panose="05000000000000000000" pitchFamily="2" charset="2"/>
              <a:buChar char="ü"/>
            </a:pPr>
            <a:r>
              <a:rPr lang="en-US" sz="2000" dirty="0"/>
              <a:t>Director-level positions dominate the top salary rankings, highlighting that leadership roles receive the highest compensation across departments.</a:t>
            </a:r>
          </a:p>
        </p:txBody>
      </p:sp>
    </p:spTree>
    <p:extLst>
      <p:ext uri="{BB962C8B-B14F-4D97-AF65-F5344CB8AC3E}">
        <p14:creationId xmlns:p14="http://schemas.microsoft.com/office/powerpoint/2010/main" val="4247444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7E51B3E3-6CAF-5684-C7E3-8140D92834BF}"/>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A431CB-0706-0646-04DA-5AA6B7455DE4}"/>
              </a:ext>
            </a:extLst>
          </p:cNvPr>
          <p:cNvSpPr txBox="1"/>
          <p:nvPr/>
        </p:nvSpPr>
        <p:spPr>
          <a:xfrm>
            <a:off x="380221" y="321687"/>
            <a:ext cx="9360937" cy="615553"/>
          </a:xfrm>
          <a:prstGeom prst="rect">
            <a:avLst/>
          </a:prstGeom>
          <a:noFill/>
        </p:spPr>
        <p:txBody>
          <a:bodyPr wrap="square">
            <a:spAutoFit/>
          </a:bodyPr>
          <a:lstStyle/>
          <a:p>
            <a:r>
              <a:rPr lang="en-US" sz="3400" b="1" dirty="0"/>
              <a:t>JOB ROLE AND DEPARTMENT ANALYSIS</a:t>
            </a:r>
          </a:p>
        </p:txBody>
      </p:sp>
      <p:sp>
        <p:nvSpPr>
          <p:cNvPr id="7" name="TextBox 6">
            <a:extLst>
              <a:ext uri="{FF2B5EF4-FFF2-40B4-BE49-F238E27FC236}">
                <a16:creationId xmlns:a16="http://schemas.microsoft.com/office/drawing/2014/main" id="{CA8CFBD8-F1D9-0FB8-96C0-DC421FC2D0ED}"/>
              </a:ext>
            </a:extLst>
          </p:cNvPr>
          <p:cNvSpPr txBox="1"/>
          <p:nvPr/>
        </p:nvSpPr>
        <p:spPr>
          <a:xfrm>
            <a:off x="538843" y="1268258"/>
            <a:ext cx="9528888" cy="492443"/>
          </a:xfrm>
          <a:prstGeom prst="rect">
            <a:avLst/>
          </a:prstGeom>
          <a:noFill/>
        </p:spPr>
        <p:txBody>
          <a:bodyPr wrap="square">
            <a:spAutoFit/>
          </a:bodyPr>
          <a:lstStyle/>
          <a:p>
            <a:r>
              <a:rPr lang="en-US" sz="2600" dirty="0"/>
              <a:t>Which departments have the highest total salary allocation?</a:t>
            </a:r>
          </a:p>
        </p:txBody>
      </p:sp>
      <p:sp>
        <p:nvSpPr>
          <p:cNvPr id="9" name="TextBox 8">
            <a:extLst>
              <a:ext uri="{FF2B5EF4-FFF2-40B4-BE49-F238E27FC236}">
                <a16:creationId xmlns:a16="http://schemas.microsoft.com/office/drawing/2014/main" id="{657FA834-F2A2-05B7-FF1C-42396E7A2F0F}"/>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E77759C0-BB63-3EA0-ECCC-4D190AD02AB7}"/>
              </a:ext>
            </a:extLst>
          </p:cNvPr>
          <p:cNvSpPr txBox="1"/>
          <p:nvPr/>
        </p:nvSpPr>
        <p:spPr>
          <a:xfrm>
            <a:off x="8880410" y="2091719"/>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E90C219A-9A2B-6A49-7B27-4D012EA9D5CE}"/>
              </a:ext>
            </a:extLst>
          </p:cNvPr>
          <p:cNvSpPr txBox="1"/>
          <p:nvPr/>
        </p:nvSpPr>
        <p:spPr>
          <a:xfrm>
            <a:off x="538843" y="4674974"/>
            <a:ext cx="6172200" cy="400110"/>
          </a:xfrm>
          <a:prstGeom prst="rect">
            <a:avLst/>
          </a:prstGeom>
          <a:noFill/>
        </p:spPr>
        <p:txBody>
          <a:bodyPr wrap="square">
            <a:spAutoFit/>
          </a:bodyPr>
          <a:lstStyle/>
          <a:p>
            <a:r>
              <a:rPr lang="en-US" sz="2000" b="1" dirty="0"/>
              <a:t>KEY INSIGHTS:</a:t>
            </a:r>
          </a:p>
        </p:txBody>
      </p:sp>
      <p:pic>
        <p:nvPicPr>
          <p:cNvPr id="15" name="Picture 14">
            <a:extLst>
              <a:ext uri="{FF2B5EF4-FFF2-40B4-BE49-F238E27FC236}">
                <a16:creationId xmlns:a16="http://schemas.microsoft.com/office/drawing/2014/main" id="{66139F78-4E7D-951E-05B6-5F4FE82EFEA3}"/>
              </a:ext>
            </a:extLst>
          </p:cNvPr>
          <p:cNvPicPr>
            <a:picLocks noChangeAspect="1"/>
          </p:cNvPicPr>
          <p:nvPr/>
        </p:nvPicPr>
        <p:blipFill>
          <a:blip r:embed="rId3"/>
          <a:stretch>
            <a:fillRect/>
          </a:stretch>
        </p:blipFill>
        <p:spPr>
          <a:xfrm>
            <a:off x="538843" y="2503364"/>
            <a:ext cx="4991797" cy="1629002"/>
          </a:xfrm>
          <a:prstGeom prst="rect">
            <a:avLst/>
          </a:prstGeom>
        </p:spPr>
      </p:pic>
      <p:pic>
        <p:nvPicPr>
          <p:cNvPr id="17" name="Picture 16">
            <a:extLst>
              <a:ext uri="{FF2B5EF4-FFF2-40B4-BE49-F238E27FC236}">
                <a16:creationId xmlns:a16="http://schemas.microsoft.com/office/drawing/2014/main" id="{EBB2534B-E4A5-CB32-0019-67563BFC43C3}"/>
              </a:ext>
            </a:extLst>
          </p:cNvPr>
          <p:cNvPicPr>
            <a:picLocks noChangeAspect="1"/>
          </p:cNvPicPr>
          <p:nvPr/>
        </p:nvPicPr>
        <p:blipFill>
          <a:blip r:embed="rId4"/>
          <a:stretch>
            <a:fillRect/>
          </a:stretch>
        </p:blipFill>
        <p:spPr>
          <a:xfrm>
            <a:off x="8412235" y="2432327"/>
            <a:ext cx="2657846" cy="1933845"/>
          </a:xfrm>
          <a:prstGeom prst="rect">
            <a:avLst/>
          </a:prstGeom>
        </p:spPr>
      </p:pic>
      <p:sp>
        <p:nvSpPr>
          <p:cNvPr id="19" name="TextBox 18">
            <a:extLst>
              <a:ext uri="{FF2B5EF4-FFF2-40B4-BE49-F238E27FC236}">
                <a16:creationId xmlns:a16="http://schemas.microsoft.com/office/drawing/2014/main" id="{26E260E3-64E5-6F51-B80D-E09FF095E4D8}"/>
              </a:ext>
            </a:extLst>
          </p:cNvPr>
          <p:cNvSpPr txBox="1"/>
          <p:nvPr/>
        </p:nvSpPr>
        <p:spPr>
          <a:xfrm>
            <a:off x="538843" y="5201746"/>
            <a:ext cx="10956471"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The Finance department has the highest total salary allocation (78,12, 000), indicating the largest payroll investment among all departments. </a:t>
            </a:r>
          </a:p>
          <a:p>
            <a:pPr marL="342900" indent="-342900" algn="just">
              <a:buFont typeface="Wingdings" panose="05000000000000000000" pitchFamily="2" charset="2"/>
              <a:buChar char="ü"/>
            </a:pPr>
            <a:r>
              <a:rPr lang="en-US" sz="2000" dirty="0"/>
              <a:t>The Legal department has the lowest total salary allocation (50,76,000), reflecting a comparatively smaller salary budget.</a:t>
            </a:r>
          </a:p>
        </p:txBody>
      </p:sp>
    </p:spTree>
    <p:extLst>
      <p:ext uri="{BB962C8B-B14F-4D97-AF65-F5344CB8AC3E}">
        <p14:creationId xmlns:p14="http://schemas.microsoft.com/office/powerpoint/2010/main" val="14405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4EB22-6100-94FA-A684-6DAB84F3F8B5}"/>
            </a:ext>
          </a:extLst>
        </p:cNvPr>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54E1B029-9C9D-7E8F-E9D3-03A567EDC664}"/>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DE32597-99A1-C3DF-9964-9F7049649A5B}"/>
              </a:ext>
            </a:extLst>
          </p:cNvPr>
          <p:cNvSpPr txBox="1"/>
          <p:nvPr/>
        </p:nvSpPr>
        <p:spPr>
          <a:xfrm>
            <a:off x="380222" y="321687"/>
            <a:ext cx="8829092" cy="615553"/>
          </a:xfrm>
          <a:prstGeom prst="rect">
            <a:avLst/>
          </a:prstGeom>
          <a:noFill/>
        </p:spPr>
        <p:txBody>
          <a:bodyPr wrap="square">
            <a:spAutoFit/>
          </a:bodyPr>
          <a:lstStyle/>
          <a:p>
            <a:r>
              <a:rPr lang="en-US" sz="3400" b="1" dirty="0"/>
              <a:t>LEAVE AND ABSENCE ANALYSIS </a:t>
            </a:r>
          </a:p>
        </p:txBody>
      </p:sp>
      <p:sp>
        <p:nvSpPr>
          <p:cNvPr id="7" name="TextBox 6">
            <a:extLst>
              <a:ext uri="{FF2B5EF4-FFF2-40B4-BE49-F238E27FC236}">
                <a16:creationId xmlns:a16="http://schemas.microsoft.com/office/drawing/2014/main" id="{4EB68CCE-506B-35FF-745A-7E1ED033F889}"/>
              </a:ext>
            </a:extLst>
          </p:cNvPr>
          <p:cNvSpPr txBox="1"/>
          <p:nvPr/>
        </p:nvSpPr>
        <p:spPr>
          <a:xfrm>
            <a:off x="538842" y="1268258"/>
            <a:ext cx="11506977" cy="892552"/>
          </a:xfrm>
          <a:prstGeom prst="rect">
            <a:avLst/>
          </a:prstGeom>
          <a:noFill/>
        </p:spPr>
        <p:txBody>
          <a:bodyPr wrap="square">
            <a:spAutoFit/>
          </a:bodyPr>
          <a:lstStyle/>
          <a:p>
            <a:pPr algn="just"/>
            <a:r>
              <a:rPr lang="en-US" sz="2600" dirty="0"/>
              <a:t>What is the average number of leave days taken by its employees per department?</a:t>
            </a:r>
          </a:p>
        </p:txBody>
      </p:sp>
      <p:sp>
        <p:nvSpPr>
          <p:cNvPr id="9" name="TextBox 8">
            <a:extLst>
              <a:ext uri="{FF2B5EF4-FFF2-40B4-BE49-F238E27FC236}">
                <a16:creationId xmlns:a16="http://schemas.microsoft.com/office/drawing/2014/main" id="{7E8B79A4-C577-6159-FFA2-F6DF53C43D85}"/>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0E7FF685-2310-B22F-BF52-84111CB76D1C}"/>
              </a:ext>
            </a:extLst>
          </p:cNvPr>
          <p:cNvSpPr txBox="1"/>
          <p:nvPr/>
        </p:nvSpPr>
        <p:spPr>
          <a:xfrm>
            <a:off x="8880410" y="2091719"/>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FF7E27A2-B9B1-BA74-83B4-193BC344FBF7}"/>
              </a:ext>
            </a:extLst>
          </p:cNvPr>
          <p:cNvSpPr txBox="1"/>
          <p:nvPr/>
        </p:nvSpPr>
        <p:spPr>
          <a:xfrm>
            <a:off x="538843" y="4796487"/>
            <a:ext cx="6172200" cy="400110"/>
          </a:xfrm>
          <a:prstGeom prst="rect">
            <a:avLst/>
          </a:prstGeom>
          <a:noFill/>
        </p:spPr>
        <p:txBody>
          <a:bodyPr wrap="square">
            <a:spAutoFit/>
          </a:bodyPr>
          <a:lstStyle/>
          <a:p>
            <a:r>
              <a:rPr lang="en-US" sz="2000" b="1" dirty="0"/>
              <a:t>KEY INSIGHTS:</a:t>
            </a:r>
          </a:p>
        </p:txBody>
      </p:sp>
      <p:pic>
        <p:nvPicPr>
          <p:cNvPr id="8" name="Picture 7">
            <a:extLst>
              <a:ext uri="{FF2B5EF4-FFF2-40B4-BE49-F238E27FC236}">
                <a16:creationId xmlns:a16="http://schemas.microsoft.com/office/drawing/2014/main" id="{8646B5ED-F681-A75F-2AE8-8683AA9BAA82}"/>
              </a:ext>
            </a:extLst>
          </p:cNvPr>
          <p:cNvPicPr>
            <a:picLocks noChangeAspect="1"/>
          </p:cNvPicPr>
          <p:nvPr/>
        </p:nvPicPr>
        <p:blipFill>
          <a:blip r:embed="rId3"/>
          <a:stretch>
            <a:fillRect/>
          </a:stretch>
        </p:blipFill>
        <p:spPr>
          <a:xfrm>
            <a:off x="538842" y="2642147"/>
            <a:ext cx="5133975" cy="1724025"/>
          </a:xfrm>
          <a:prstGeom prst="rect">
            <a:avLst/>
          </a:prstGeom>
        </p:spPr>
      </p:pic>
      <p:pic>
        <p:nvPicPr>
          <p:cNvPr id="12" name="Picture 11">
            <a:extLst>
              <a:ext uri="{FF2B5EF4-FFF2-40B4-BE49-F238E27FC236}">
                <a16:creationId xmlns:a16="http://schemas.microsoft.com/office/drawing/2014/main" id="{14EDA2CC-D0B9-7AA8-FAEC-3FAA0CC85D92}"/>
              </a:ext>
            </a:extLst>
          </p:cNvPr>
          <p:cNvPicPr>
            <a:picLocks noChangeAspect="1"/>
          </p:cNvPicPr>
          <p:nvPr/>
        </p:nvPicPr>
        <p:blipFill>
          <a:blip r:embed="rId4"/>
          <a:stretch>
            <a:fillRect/>
          </a:stretch>
        </p:blipFill>
        <p:spPr>
          <a:xfrm>
            <a:off x="8705407" y="2491828"/>
            <a:ext cx="2162477" cy="2010056"/>
          </a:xfrm>
          <a:prstGeom prst="rect">
            <a:avLst/>
          </a:prstGeom>
        </p:spPr>
      </p:pic>
      <p:sp>
        <p:nvSpPr>
          <p:cNvPr id="19" name="TextBox 18">
            <a:extLst>
              <a:ext uri="{FF2B5EF4-FFF2-40B4-BE49-F238E27FC236}">
                <a16:creationId xmlns:a16="http://schemas.microsoft.com/office/drawing/2014/main" id="{9CA852B5-75CC-E22F-5024-CB3E227D6D86}"/>
              </a:ext>
            </a:extLst>
          </p:cNvPr>
          <p:cNvSpPr txBox="1"/>
          <p:nvPr/>
        </p:nvSpPr>
        <p:spPr>
          <a:xfrm>
            <a:off x="538843" y="5149858"/>
            <a:ext cx="11114314"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All departments have the same average leave count of 1 day per employee, indicating a uniform leave pattern across the organization.</a:t>
            </a:r>
          </a:p>
          <a:p>
            <a:pPr marL="342900" indent="-342900" algn="just">
              <a:buFont typeface="Wingdings" panose="05000000000000000000" pitchFamily="2" charset="2"/>
              <a:buChar char="ü"/>
            </a:pPr>
            <a:r>
              <a:rPr lang="en-US" sz="2000" dirty="0"/>
              <a:t>There is no significant variation in leave usage between departments, suggesting consistent leave management practices.</a:t>
            </a:r>
          </a:p>
        </p:txBody>
      </p:sp>
    </p:spTree>
    <p:extLst>
      <p:ext uri="{BB962C8B-B14F-4D97-AF65-F5344CB8AC3E}">
        <p14:creationId xmlns:p14="http://schemas.microsoft.com/office/powerpoint/2010/main" val="551853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06A2-84D3-6C0A-359E-B18D0F4DA091}"/>
            </a:ext>
          </a:extLst>
        </p:cNvPr>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49D05AB5-236A-2243-66FF-D7881182466D}"/>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406B936-E4C2-3895-5231-818218BA5AAB}"/>
              </a:ext>
            </a:extLst>
          </p:cNvPr>
          <p:cNvSpPr txBox="1"/>
          <p:nvPr/>
        </p:nvSpPr>
        <p:spPr>
          <a:xfrm>
            <a:off x="380222" y="321687"/>
            <a:ext cx="8829092" cy="615553"/>
          </a:xfrm>
          <a:prstGeom prst="rect">
            <a:avLst/>
          </a:prstGeom>
          <a:noFill/>
        </p:spPr>
        <p:txBody>
          <a:bodyPr wrap="square">
            <a:spAutoFit/>
          </a:bodyPr>
          <a:lstStyle/>
          <a:p>
            <a:r>
              <a:rPr lang="en-US" sz="3400" b="1" dirty="0"/>
              <a:t>LEAVE AND ABSENCE ANALYSIS </a:t>
            </a:r>
          </a:p>
        </p:txBody>
      </p:sp>
      <p:sp>
        <p:nvSpPr>
          <p:cNvPr id="7" name="TextBox 6">
            <a:extLst>
              <a:ext uri="{FF2B5EF4-FFF2-40B4-BE49-F238E27FC236}">
                <a16:creationId xmlns:a16="http://schemas.microsoft.com/office/drawing/2014/main" id="{80EC67EC-FCE2-6AF5-69E9-36CC3310A7A7}"/>
              </a:ext>
            </a:extLst>
          </p:cNvPr>
          <p:cNvSpPr txBox="1"/>
          <p:nvPr/>
        </p:nvSpPr>
        <p:spPr>
          <a:xfrm>
            <a:off x="538842" y="1268258"/>
            <a:ext cx="11506977" cy="492443"/>
          </a:xfrm>
          <a:prstGeom prst="rect">
            <a:avLst/>
          </a:prstGeom>
          <a:noFill/>
        </p:spPr>
        <p:txBody>
          <a:bodyPr wrap="square">
            <a:spAutoFit/>
          </a:bodyPr>
          <a:lstStyle/>
          <a:p>
            <a:pPr algn="just"/>
            <a:r>
              <a:rPr lang="en-US" sz="2600" dirty="0"/>
              <a:t>How do leave days correlate with payroll amounts?</a:t>
            </a:r>
          </a:p>
        </p:txBody>
      </p:sp>
      <p:sp>
        <p:nvSpPr>
          <p:cNvPr id="9" name="TextBox 8">
            <a:extLst>
              <a:ext uri="{FF2B5EF4-FFF2-40B4-BE49-F238E27FC236}">
                <a16:creationId xmlns:a16="http://schemas.microsoft.com/office/drawing/2014/main" id="{0D63CA63-F16A-96A5-AF06-6AF6FDC98045}"/>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34176CA1-4619-4D94-8840-613043C55E5E}"/>
              </a:ext>
            </a:extLst>
          </p:cNvPr>
          <p:cNvSpPr txBox="1"/>
          <p:nvPr/>
        </p:nvSpPr>
        <p:spPr>
          <a:xfrm>
            <a:off x="8911524" y="1686706"/>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B1228009-6556-45ED-A3CA-B71207016072}"/>
              </a:ext>
            </a:extLst>
          </p:cNvPr>
          <p:cNvSpPr txBox="1"/>
          <p:nvPr/>
        </p:nvSpPr>
        <p:spPr>
          <a:xfrm>
            <a:off x="380222" y="4366172"/>
            <a:ext cx="6172200" cy="400110"/>
          </a:xfrm>
          <a:prstGeom prst="rect">
            <a:avLst/>
          </a:prstGeom>
          <a:noFill/>
        </p:spPr>
        <p:txBody>
          <a:bodyPr wrap="square">
            <a:spAutoFit/>
          </a:bodyPr>
          <a:lstStyle/>
          <a:p>
            <a:r>
              <a:rPr lang="en-US" sz="2000" b="1" dirty="0"/>
              <a:t>KEY INSIGHTS:</a:t>
            </a:r>
          </a:p>
        </p:txBody>
      </p:sp>
      <p:pic>
        <p:nvPicPr>
          <p:cNvPr id="15" name="Picture 14">
            <a:extLst>
              <a:ext uri="{FF2B5EF4-FFF2-40B4-BE49-F238E27FC236}">
                <a16:creationId xmlns:a16="http://schemas.microsoft.com/office/drawing/2014/main" id="{F1887528-0793-6752-50A4-14D50CCE9349}"/>
              </a:ext>
            </a:extLst>
          </p:cNvPr>
          <p:cNvPicPr>
            <a:picLocks noChangeAspect="1"/>
          </p:cNvPicPr>
          <p:nvPr/>
        </p:nvPicPr>
        <p:blipFill>
          <a:blip r:embed="rId3"/>
          <a:stretch>
            <a:fillRect/>
          </a:stretch>
        </p:blipFill>
        <p:spPr>
          <a:xfrm>
            <a:off x="8911524" y="2091719"/>
            <a:ext cx="2610214" cy="2057687"/>
          </a:xfrm>
          <a:prstGeom prst="rect">
            <a:avLst/>
          </a:prstGeom>
        </p:spPr>
      </p:pic>
      <p:pic>
        <p:nvPicPr>
          <p:cNvPr id="17" name="Picture 16">
            <a:extLst>
              <a:ext uri="{FF2B5EF4-FFF2-40B4-BE49-F238E27FC236}">
                <a16:creationId xmlns:a16="http://schemas.microsoft.com/office/drawing/2014/main" id="{8DA06224-E6F8-BBF1-2A17-E6FA3A9E2902}"/>
              </a:ext>
            </a:extLst>
          </p:cNvPr>
          <p:cNvPicPr>
            <a:picLocks noChangeAspect="1"/>
          </p:cNvPicPr>
          <p:nvPr/>
        </p:nvPicPr>
        <p:blipFill>
          <a:blip r:embed="rId4"/>
          <a:stretch>
            <a:fillRect/>
          </a:stretch>
        </p:blipFill>
        <p:spPr>
          <a:xfrm>
            <a:off x="538842" y="2616254"/>
            <a:ext cx="4334480" cy="1257475"/>
          </a:xfrm>
          <a:prstGeom prst="rect">
            <a:avLst/>
          </a:prstGeom>
        </p:spPr>
      </p:pic>
      <p:sp>
        <p:nvSpPr>
          <p:cNvPr id="19" name="TextBox 18">
            <a:extLst>
              <a:ext uri="{FF2B5EF4-FFF2-40B4-BE49-F238E27FC236}">
                <a16:creationId xmlns:a16="http://schemas.microsoft.com/office/drawing/2014/main" id="{DC84A291-1C88-507F-0AF1-FE9A11413EC0}"/>
              </a:ext>
            </a:extLst>
          </p:cNvPr>
          <p:cNvSpPr txBox="1"/>
          <p:nvPr/>
        </p:nvSpPr>
        <p:spPr>
          <a:xfrm>
            <a:off x="345232" y="4966654"/>
            <a:ext cx="11364686" cy="1323439"/>
          </a:xfrm>
          <a:prstGeom prst="rect">
            <a:avLst/>
          </a:prstGeom>
          <a:noFill/>
        </p:spPr>
        <p:txBody>
          <a:bodyPr wrap="square">
            <a:spAutoFit/>
          </a:bodyPr>
          <a:lstStyle/>
          <a:p>
            <a:pPr marL="285750" indent="-285750" algn="just">
              <a:buFont typeface="Wingdings" panose="05000000000000000000" pitchFamily="2" charset="2"/>
              <a:buChar char="ü"/>
            </a:pPr>
            <a:r>
              <a:rPr lang="en-US" sz="2000" dirty="0"/>
              <a:t>All employees have taken one leave day, but their payroll amounts differ based on their respective salary structures.·</a:t>
            </a:r>
          </a:p>
          <a:p>
            <a:pPr marL="285750" indent="-285750" algn="just">
              <a:buFont typeface="Wingdings" panose="05000000000000000000" pitchFamily="2" charset="2"/>
              <a:buChar char="ü"/>
            </a:pPr>
            <a:r>
              <a:rPr lang="en-US" sz="2000" dirty="0"/>
              <a:t>Since the leave count is the same for all employees, there is no noticeable correlation between leave days and payroll amounts in this dataset.</a:t>
            </a:r>
          </a:p>
        </p:txBody>
      </p:sp>
    </p:spTree>
    <p:extLst>
      <p:ext uri="{BB962C8B-B14F-4D97-AF65-F5344CB8AC3E}">
        <p14:creationId xmlns:p14="http://schemas.microsoft.com/office/powerpoint/2010/main" val="835425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8B97-4ECF-5734-A082-9C9DAB43A131}"/>
            </a:ext>
          </a:extLst>
        </p:cNvPr>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F815E778-92B4-F23C-0BDE-D0CDCC309F47}"/>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0C1B56-503C-D827-FA8B-4B4C18F1A0F1}"/>
              </a:ext>
            </a:extLst>
          </p:cNvPr>
          <p:cNvSpPr txBox="1"/>
          <p:nvPr/>
        </p:nvSpPr>
        <p:spPr>
          <a:xfrm>
            <a:off x="380222" y="321687"/>
            <a:ext cx="10343774" cy="615553"/>
          </a:xfrm>
          <a:prstGeom prst="rect">
            <a:avLst/>
          </a:prstGeom>
          <a:noFill/>
        </p:spPr>
        <p:txBody>
          <a:bodyPr wrap="square">
            <a:spAutoFit/>
          </a:bodyPr>
          <a:lstStyle/>
          <a:p>
            <a:r>
              <a:rPr lang="en-US" sz="3400" b="1" dirty="0"/>
              <a:t>PAYROLL AND COMPENSATION ANALYSIS</a:t>
            </a:r>
          </a:p>
        </p:txBody>
      </p:sp>
      <p:sp>
        <p:nvSpPr>
          <p:cNvPr id="7" name="TextBox 6">
            <a:extLst>
              <a:ext uri="{FF2B5EF4-FFF2-40B4-BE49-F238E27FC236}">
                <a16:creationId xmlns:a16="http://schemas.microsoft.com/office/drawing/2014/main" id="{FE17DE51-B6D7-844A-9336-E51A9E8C983F}"/>
              </a:ext>
            </a:extLst>
          </p:cNvPr>
          <p:cNvSpPr txBox="1"/>
          <p:nvPr/>
        </p:nvSpPr>
        <p:spPr>
          <a:xfrm>
            <a:off x="538842" y="1268258"/>
            <a:ext cx="11506977" cy="492443"/>
          </a:xfrm>
          <a:prstGeom prst="rect">
            <a:avLst/>
          </a:prstGeom>
          <a:noFill/>
        </p:spPr>
        <p:txBody>
          <a:bodyPr wrap="square">
            <a:spAutoFit/>
          </a:bodyPr>
          <a:lstStyle/>
          <a:p>
            <a:pPr algn="just"/>
            <a:r>
              <a:rPr lang="en-US" sz="2600" dirty="0"/>
              <a:t>What is the total monthly payroll processed?</a:t>
            </a:r>
          </a:p>
        </p:txBody>
      </p:sp>
      <p:sp>
        <p:nvSpPr>
          <p:cNvPr id="9" name="TextBox 8">
            <a:extLst>
              <a:ext uri="{FF2B5EF4-FFF2-40B4-BE49-F238E27FC236}">
                <a16:creationId xmlns:a16="http://schemas.microsoft.com/office/drawing/2014/main" id="{CEF76F60-37DF-ABAD-710D-12F45095937B}"/>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F7D82425-4C56-026D-BB39-5698AD608798}"/>
              </a:ext>
            </a:extLst>
          </p:cNvPr>
          <p:cNvSpPr txBox="1"/>
          <p:nvPr/>
        </p:nvSpPr>
        <p:spPr>
          <a:xfrm>
            <a:off x="8911524" y="2014774"/>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7F37466E-574A-F3E9-9508-0DABB10CC705}"/>
              </a:ext>
            </a:extLst>
          </p:cNvPr>
          <p:cNvSpPr txBox="1"/>
          <p:nvPr/>
        </p:nvSpPr>
        <p:spPr>
          <a:xfrm>
            <a:off x="380222" y="4366172"/>
            <a:ext cx="6172200" cy="400110"/>
          </a:xfrm>
          <a:prstGeom prst="rect">
            <a:avLst/>
          </a:prstGeom>
          <a:noFill/>
        </p:spPr>
        <p:txBody>
          <a:bodyPr wrap="square">
            <a:spAutoFit/>
          </a:bodyPr>
          <a:lstStyle/>
          <a:p>
            <a:r>
              <a:rPr lang="en-US" sz="2000" b="1" dirty="0"/>
              <a:t>KEY INSIGHTS:</a:t>
            </a:r>
          </a:p>
        </p:txBody>
      </p:sp>
      <p:pic>
        <p:nvPicPr>
          <p:cNvPr id="4" name="Picture 3">
            <a:extLst>
              <a:ext uri="{FF2B5EF4-FFF2-40B4-BE49-F238E27FC236}">
                <a16:creationId xmlns:a16="http://schemas.microsoft.com/office/drawing/2014/main" id="{0B27B7E2-C229-A89B-0258-26FD09EA4161}"/>
              </a:ext>
            </a:extLst>
          </p:cNvPr>
          <p:cNvPicPr>
            <a:picLocks noChangeAspect="1"/>
          </p:cNvPicPr>
          <p:nvPr/>
        </p:nvPicPr>
        <p:blipFill>
          <a:blip r:embed="rId3"/>
          <a:stretch>
            <a:fillRect/>
          </a:stretch>
        </p:blipFill>
        <p:spPr>
          <a:xfrm>
            <a:off x="465405" y="2728684"/>
            <a:ext cx="3591426" cy="619211"/>
          </a:xfrm>
          <a:prstGeom prst="rect">
            <a:avLst/>
          </a:prstGeom>
        </p:spPr>
      </p:pic>
      <p:pic>
        <p:nvPicPr>
          <p:cNvPr id="12" name="Picture 11">
            <a:extLst>
              <a:ext uri="{FF2B5EF4-FFF2-40B4-BE49-F238E27FC236}">
                <a16:creationId xmlns:a16="http://schemas.microsoft.com/office/drawing/2014/main" id="{873A7941-7ED3-31E5-802A-DFC83D4DFBA3}"/>
              </a:ext>
            </a:extLst>
          </p:cNvPr>
          <p:cNvPicPr>
            <a:picLocks noChangeAspect="1"/>
          </p:cNvPicPr>
          <p:nvPr/>
        </p:nvPicPr>
        <p:blipFill>
          <a:blip r:embed="rId4"/>
          <a:stretch>
            <a:fillRect/>
          </a:stretch>
        </p:blipFill>
        <p:spPr>
          <a:xfrm>
            <a:off x="8764907" y="2602754"/>
            <a:ext cx="2105706" cy="826246"/>
          </a:xfrm>
          <a:prstGeom prst="rect">
            <a:avLst/>
          </a:prstGeom>
        </p:spPr>
      </p:pic>
      <p:sp>
        <p:nvSpPr>
          <p:cNvPr id="16" name="TextBox 15">
            <a:extLst>
              <a:ext uri="{FF2B5EF4-FFF2-40B4-BE49-F238E27FC236}">
                <a16:creationId xmlns:a16="http://schemas.microsoft.com/office/drawing/2014/main" id="{E21FF9A6-48BD-56ED-9E9F-275AC625FDBE}"/>
              </a:ext>
            </a:extLst>
          </p:cNvPr>
          <p:cNvSpPr txBox="1"/>
          <p:nvPr/>
        </p:nvSpPr>
        <p:spPr>
          <a:xfrm>
            <a:off x="380222" y="4989460"/>
            <a:ext cx="11049778"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The company processes a total monthly payroll of "277, 800, representing the combined salary payments to all employees.</a:t>
            </a:r>
          </a:p>
          <a:p>
            <a:pPr marL="342900" indent="-342900" algn="just">
              <a:buFont typeface="Wingdings" panose="05000000000000000000" pitchFamily="2" charset="2"/>
              <a:buChar char="ü"/>
            </a:pPr>
            <a:r>
              <a:rPr lang="en-US" sz="2000" dirty="0"/>
              <a:t>The total monthly payroll provides a clear overview of the organization's monthly salary expenditure, supporting payroll planning and budgeting.</a:t>
            </a:r>
          </a:p>
        </p:txBody>
      </p:sp>
    </p:spTree>
    <p:extLst>
      <p:ext uri="{BB962C8B-B14F-4D97-AF65-F5344CB8AC3E}">
        <p14:creationId xmlns:p14="http://schemas.microsoft.com/office/powerpoint/2010/main" val="1320784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966BB-A8D5-46C2-C618-7D7C018702EA}"/>
            </a:ext>
          </a:extLst>
        </p:cNvPr>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8361A3E3-55B1-3975-3DC6-50618F7F3262}"/>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ED9970-2F3E-85B5-FD30-4618E555E707}"/>
              </a:ext>
            </a:extLst>
          </p:cNvPr>
          <p:cNvSpPr txBox="1"/>
          <p:nvPr/>
        </p:nvSpPr>
        <p:spPr>
          <a:xfrm>
            <a:off x="380221" y="321687"/>
            <a:ext cx="11152415" cy="615553"/>
          </a:xfrm>
          <a:prstGeom prst="rect">
            <a:avLst/>
          </a:prstGeom>
          <a:noFill/>
        </p:spPr>
        <p:txBody>
          <a:bodyPr wrap="square">
            <a:spAutoFit/>
          </a:bodyPr>
          <a:lstStyle/>
          <a:p>
            <a:r>
              <a:rPr lang="en-US" sz="3400" b="1" dirty="0"/>
              <a:t>PAYROLL AND COMPENSATION ANALYSIS</a:t>
            </a:r>
          </a:p>
        </p:txBody>
      </p:sp>
      <p:sp>
        <p:nvSpPr>
          <p:cNvPr id="7" name="TextBox 6">
            <a:extLst>
              <a:ext uri="{FF2B5EF4-FFF2-40B4-BE49-F238E27FC236}">
                <a16:creationId xmlns:a16="http://schemas.microsoft.com/office/drawing/2014/main" id="{B34E1FF2-BACC-7137-F334-C012106185E4}"/>
              </a:ext>
            </a:extLst>
          </p:cNvPr>
          <p:cNvSpPr txBox="1"/>
          <p:nvPr/>
        </p:nvSpPr>
        <p:spPr>
          <a:xfrm>
            <a:off x="538842" y="1268258"/>
            <a:ext cx="11506977" cy="492443"/>
          </a:xfrm>
          <a:prstGeom prst="rect">
            <a:avLst/>
          </a:prstGeom>
          <a:noFill/>
        </p:spPr>
        <p:txBody>
          <a:bodyPr wrap="square">
            <a:spAutoFit/>
          </a:bodyPr>
          <a:lstStyle/>
          <a:p>
            <a:pPr algn="just"/>
            <a:r>
              <a:rPr lang="en-US" sz="2600" dirty="0"/>
              <a:t> What is the average bonus given per department? </a:t>
            </a:r>
          </a:p>
        </p:txBody>
      </p:sp>
      <p:sp>
        <p:nvSpPr>
          <p:cNvPr id="9" name="TextBox 8">
            <a:extLst>
              <a:ext uri="{FF2B5EF4-FFF2-40B4-BE49-F238E27FC236}">
                <a16:creationId xmlns:a16="http://schemas.microsoft.com/office/drawing/2014/main" id="{A666A9BC-438B-B036-0E3C-067E9BDE82D7}"/>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8CF3F554-BF04-7106-C7EC-172578440A43}"/>
              </a:ext>
            </a:extLst>
          </p:cNvPr>
          <p:cNvSpPr txBox="1"/>
          <p:nvPr/>
        </p:nvSpPr>
        <p:spPr>
          <a:xfrm>
            <a:off x="7873384" y="2051541"/>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77BA5A54-B6F6-B1B0-03BD-9A20DB6B87F7}"/>
              </a:ext>
            </a:extLst>
          </p:cNvPr>
          <p:cNvSpPr txBox="1"/>
          <p:nvPr/>
        </p:nvSpPr>
        <p:spPr>
          <a:xfrm>
            <a:off x="380222" y="4366172"/>
            <a:ext cx="6172200" cy="400110"/>
          </a:xfrm>
          <a:prstGeom prst="rect">
            <a:avLst/>
          </a:prstGeom>
          <a:noFill/>
        </p:spPr>
        <p:txBody>
          <a:bodyPr wrap="square">
            <a:spAutoFit/>
          </a:bodyPr>
          <a:lstStyle/>
          <a:p>
            <a:r>
              <a:rPr lang="en-US" sz="2000" b="1" dirty="0"/>
              <a:t>KEY INSIGHTS:</a:t>
            </a:r>
          </a:p>
        </p:txBody>
      </p:sp>
      <p:pic>
        <p:nvPicPr>
          <p:cNvPr id="6" name="Picture 5">
            <a:extLst>
              <a:ext uri="{FF2B5EF4-FFF2-40B4-BE49-F238E27FC236}">
                <a16:creationId xmlns:a16="http://schemas.microsoft.com/office/drawing/2014/main" id="{9A650FA5-B138-42B1-D07A-D06861A9FE13}"/>
              </a:ext>
            </a:extLst>
          </p:cNvPr>
          <p:cNvPicPr>
            <a:picLocks noChangeAspect="1"/>
          </p:cNvPicPr>
          <p:nvPr/>
        </p:nvPicPr>
        <p:blipFill>
          <a:blip r:embed="rId3"/>
          <a:stretch>
            <a:fillRect/>
          </a:stretch>
        </p:blipFill>
        <p:spPr>
          <a:xfrm>
            <a:off x="8925784" y="2414884"/>
            <a:ext cx="2295845" cy="1905266"/>
          </a:xfrm>
          <a:prstGeom prst="rect">
            <a:avLst/>
          </a:prstGeom>
        </p:spPr>
      </p:pic>
      <p:pic>
        <p:nvPicPr>
          <p:cNvPr id="15" name="Picture 14">
            <a:extLst>
              <a:ext uri="{FF2B5EF4-FFF2-40B4-BE49-F238E27FC236}">
                <a16:creationId xmlns:a16="http://schemas.microsoft.com/office/drawing/2014/main" id="{6F7FA62A-3C14-014E-A91D-4769A8266982}"/>
              </a:ext>
            </a:extLst>
          </p:cNvPr>
          <p:cNvPicPr>
            <a:picLocks noChangeAspect="1"/>
          </p:cNvPicPr>
          <p:nvPr/>
        </p:nvPicPr>
        <p:blipFill>
          <a:blip r:embed="rId4"/>
          <a:stretch>
            <a:fillRect/>
          </a:stretch>
        </p:blipFill>
        <p:spPr>
          <a:xfrm>
            <a:off x="1042598" y="2610044"/>
            <a:ext cx="3743325" cy="1619250"/>
          </a:xfrm>
          <a:prstGeom prst="rect">
            <a:avLst/>
          </a:prstGeom>
        </p:spPr>
      </p:pic>
      <p:sp>
        <p:nvSpPr>
          <p:cNvPr id="17" name="TextBox 16">
            <a:extLst>
              <a:ext uri="{FF2B5EF4-FFF2-40B4-BE49-F238E27FC236}">
                <a16:creationId xmlns:a16="http://schemas.microsoft.com/office/drawing/2014/main" id="{F557EB95-EC06-B996-EE07-53C4E4D34B14}"/>
              </a:ext>
            </a:extLst>
          </p:cNvPr>
          <p:cNvSpPr txBox="1"/>
          <p:nvPr/>
        </p:nvSpPr>
        <p:spPr>
          <a:xfrm>
            <a:off x="380221" y="5256607"/>
            <a:ext cx="11152414"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The Legal department receives the highest average bonus (713, 300), indicating the highest bonus allocation among all departments.</a:t>
            </a:r>
          </a:p>
          <a:p>
            <a:pPr marL="342900" indent="-342900" algn="just">
              <a:buFont typeface="Wingdings" panose="05000000000000000000" pitchFamily="2" charset="2"/>
              <a:buChar char="ü"/>
            </a:pPr>
            <a:r>
              <a:rPr lang="en-US" sz="2000" dirty="0"/>
              <a:t>The HR department has the lowest average bonus (18, 171.43), while the average bonuses of other departments range between 49, 125 and -12, 571.</a:t>
            </a:r>
          </a:p>
        </p:txBody>
      </p:sp>
    </p:spTree>
    <p:extLst>
      <p:ext uri="{BB962C8B-B14F-4D97-AF65-F5344CB8AC3E}">
        <p14:creationId xmlns:p14="http://schemas.microsoft.com/office/powerpoint/2010/main" val="2594505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F513-99AA-CA61-1002-980B72D9BEA5}"/>
            </a:ext>
          </a:extLst>
        </p:cNvPr>
        <p:cNvGrpSpPr/>
        <p:nvPr/>
      </p:nvGrpSpPr>
      <p:grpSpPr>
        <a:xfrm>
          <a:off x="0" y="0"/>
          <a:ext cx="0" cy="0"/>
          <a:chOff x="0" y="0"/>
          <a:chExt cx="0" cy="0"/>
        </a:xfrm>
      </p:grpSpPr>
      <p:pic>
        <p:nvPicPr>
          <p:cNvPr id="3" name="Picture 2" descr="🔥 People Business PowerPoint Background Download | CBEditz">
            <a:extLst>
              <a:ext uri="{FF2B5EF4-FFF2-40B4-BE49-F238E27FC236}">
                <a16:creationId xmlns:a16="http://schemas.microsoft.com/office/drawing/2014/main" id="{F1D6DDD8-2081-EEA4-0F98-4D7B45A4251A}"/>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933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50F723-34BC-1EC8-C096-391012B6C398}"/>
              </a:ext>
            </a:extLst>
          </p:cNvPr>
          <p:cNvSpPr txBox="1"/>
          <p:nvPr/>
        </p:nvSpPr>
        <p:spPr>
          <a:xfrm>
            <a:off x="380221" y="321687"/>
            <a:ext cx="11152415" cy="615553"/>
          </a:xfrm>
          <a:prstGeom prst="rect">
            <a:avLst/>
          </a:prstGeom>
          <a:noFill/>
        </p:spPr>
        <p:txBody>
          <a:bodyPr wrap="square">
            <a:spAutoFit/>
          </a:bodyPr>
          <a:lstStyle/>
          <a:p>
            <a:r>
              <a:rPr lang="en-US" sz="3400" b="1" dirty="0"/>
              <a:t>PAYROLL AND COMPENSATION ANALYSIS</a:t>
            </a:r>
          </a:p>
        </p:txBody>
      </p:sp>
      <p:sp>
        <p:nvSpPr>
          <p:cNvPr id="7" name="TextBox 6">
            <a:extLst>
              <a:ext uri="{FF2B5EF4-FFF2-40B4-BE49-F238E27FC236}">
                <a16:creationId xmlns:a16="http://schemas.microsoft.com/office/drawing/2014/main" id="{64BD67ED-B456-7B98-AB7F-FF6E13016C05}"/>
              </a:ext>
            </a:extLst>
          </p:cNvPr>
          <p:cNvSpPr txBox="1"/>
          <p:nvPr/>
        </p:nvSpPr>
        <p:spPr>
          <a:xfrm>
            <a:off x="538842" y="1268258"/>
            <a:ext cx="11506977" cy="492443"/>
          </a:xfrm>
          <a:prstGeom prst="rect">
            <a:avLst/>
          </a:prstGeom>
          <a:noFill/>
        </p:spPr>
        <p:txBody>
          <a:bodyPr wrap="square">
            <a:spAutoFit/>
          </a:bodyPr>
          <a:lstStyle/>
          <a:p>
            <a:pPr algn="just"/>
            <a:r>
              <a:rPr lang="en-US" sz="2600" dirty="0"/>
              <a:t>Which department receives the highest total bonuses?</a:t>
            </a:r>
          </a:p>
        </p:txBody>
      </p:sp>
      <p:sp>
        <p:nvSpPr>
          <p:cNvPr id="9" name="TextBox 8">
            <a:extLst>
              <a:ext uri="{FF2B5EF4-FFF2-40B4-BE49-F238E27FC236}">
                <a16:creationId xmlns:a16="http://schemas.microsoft.com/office/drawing/2014/main" id="{7B8BD772-3C82-E9DE-8CC2-04172D31939F}"/>
              </a:ext>
            </a:extLst>
          </p:cNvPr>
          <p:cNvSpPr txBox="1"/>
          <p:nvPr/>
        </p:nvSpPr>
        <p:spPr>
          <a:xfrm>
            <a:off x="632149" y="2091719"/>
            <a:ext cx="6172200" cy="400110"/>
          </a:xfrm>
          <a:prstGeom prst="rect">
            <a:avLst/>
          </a:prstGeom>
          <a:noFill/>
        </p:spPr>
        <p:txBody>
          <a:bodyPr wrap="square">
            <a:spAutoFit/>
          </a:bodyPr>
          <a:lstStyle/>
          <a:p>
            <a:pPr marR="0" algn="l" rtl="0">
              <a:buNone/>
            </a:pPr>
            <a:r>
              <a:rPr lang="en-US" sz="20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QUERY:</a:t>
            </a:r>
            <a:endParaRPr lang="en-US" sz="1400" dirty="0">
              <a:effectLst/>
            </a:endParaRPr>
          </a:p>
        </p:txBody>
      </p:sp>
      <p:sp>
        <p:nvSpPr>
          <p:cNvPr id="11" name="TextBox 10">
            <a:extLst>
              <a:ext uri="{FF2B5EF4-FFF2-40B4-BE49-F238E27FC236}">
                <a16:creationId xmlns:a16="http://schemas.microsoft.com/office/drawing/2014/main" id="{E2C8793C-1075-1A38-A787-D7D7608C413E}"/>
              </a:ext>
            </a:extLst>
          </p:cNvPr>
          <p:cNvSpPr txBox="1"/>
          <p:nvPr/>
        </p:nvSpPr>
        <p:spPr>
          <a:xfrm>
            <a:off x="7873384" y="2051541"/>
            <a:ext cx="1812472" cy="400110"/>
          </a:xfrm>
          <a:prstGeom prst="rect">
            <a:avLst/>
          </a:prstGeom>
          <a:noFill/>
        </p:spPr>
        <p:txBody>
          <a:bodyPr wrap="square">
            <a:spAutoFit/>
          </a:bodyPr>
          <a:lstStyle/>
          <a:p>
            <a:r>
              <a:rPr lang="en-US" sz="2000" b="1" dirty="0"/>
              <a:t>OUTPUT:</a:t>
            </a:r>
          </a:p>
        </p:txBody>
      </p:sp>
      <p:sp>
        <p:nvSpPr>
          <p:cNvPr id="13" name="TextBox 12">
            <a:extLst>
              <a:ext uri="{FF2B5EF4-FFF2-40B4-BE49-F238E27FC236}">
                <a16:creationId xmlns:a16="http://schemas.microsoft.com/office/drawing/2014/main" id="{BE15BF99-0DE3-3A33-7B2A-32A4BA1C914C}"/>
              </a:ext>
            </a:extLst>
          </p:cNvPr>
          <p:cNvSpPr txBox="1"/>
          <p:nvPr/>
        </p:nvSpPr>
        <p:spPr>
          <a:xfrm>
            <a:off x="380222" y="4366172"/>
            <a:ext cx="6172200" cy="400110"/>
          </a:xfrm>
          <a:prstGeom prst="rect">
            <a:avLst/>
          </a:prstGeom>
          <a:noFill/>
        </p:spPr>
        <p:txBody>
          <a:bodyPr wrap="square">
            <a:spAutoFit/>
          </a:bodyPr>
          <a:lstStyle/>
          <a:p>
            <a:r>
              <a:rPr lang="en-US" sz="2000" b="1" dirty="0"/>
              <a:t>KEY INSIGHTS:</a:t>
            </a:r>
          </a:p>
        </p:txBody>
      </p:sp>
      <p:pic>
        <p:nvPicPr>
          <p:cNvPr id="10" name="Picture 9">
            <a:extLst>
              <a:ext uri="{FF2B5EF4-FFF2-40B4-BE49-F238E27FC236}">
                <a16:creationId xmlns:a16="http://schemas.microsoft.com/office/drawing/2014/main" id="{173C9364-EB98-913B-9F6A-FCFF259AED4D}"/>
              </a:ext>
            </a:extLst>
          </p:cNvPr>
          <p:cNvPicPr>
            <a:picLocks noChangeAspect="1"/>
          </p:cNvPicPr>
          <p:nvPr/>
        </p:nvPicPr>
        <p:blipFill>
          <a:blip r:embed="rId3"/>
          <a:stretch>
            <a:fillRect/>
          </a:stretch>
        </p:blipFill>
        <p:spPr>
          <a:xfrm>
            <a:off x="747543" y="2491828"/>
            <a:ext cx="3829584" cy="1505160"/>
          </a:xfrm>
          <a:prstGeom prst="rect">
            <a:avLst/>
          </a:prstGeom>
        </p:spPr>
      </p:pic>
      <p:pic>
        <p:nvPicPr>
          <p:cNvPr id="14" name="Picture 13">
            <a:extLst>
              <a:ext uri="{FF2B5EF4-FFF2-40B4-BE49-F238E27FC236}">
                <a16:creationId xmlns:a16="http://schemas.microsoft.com/office/drawing/2014/main" id="{78CD3363-CCF5-9850-6795-680D367085CB}"/>
              </a:ext>
            </a:extLst>
          </p:cNvPr>
          <p:cNvPicPr>
            <a:picLocks noChangeAspect="1"/>
          </p:cNvPicPr>
          <p:nvPr/>
        </p:nvPicPr>
        <p:blipFill>
          <a:blip r:embed="rId4"/>
          <a:stretch>
            <a:fillRect/>
          </a:stretch>
        </p:blipFill>
        <p:spPr>
          <a:xfrm>
            <a:off x="8334992" y="2384695"/>
            <a:ext cx="2276793" cy="1981477"/>
          </a:xfrm>
          <a:prstGeom prst="rect">
            <a:avLst/>
          </a:prstGeom>
        </p:spPr>
      </p:pic>
      <p:sp>
        <p:nvSpPr>
          <p:cNvPr id="17" name="TextBox 16">
            <a:extLst>
              <a:ext uri="{FF2B5EF4-FFF2-40B4-BE49-F238E27FC236}">
                <a16:creationId xmlns:a16="http://schemas.microsoft.com/office/drawing/2014/main" id="{6B493884-4C46-0D92-2385-642810AD18A9}"/>
              </a:ext>
            </a:extLst>
          </p:cNvPr>
          <p:cNvSpPr txBox="1"/>
          <p:nvPr/>
        </p:nvSpPr>
        <p:spPr>
          <a:xfrm>
            <a:off x="454867" y="4966654"/>
            <a:ext cx="11320366" cy="1323439"/>
          </a:xfrm>
          <a:prstGeom prst="rect">
            <a:avLst/>
          </a:prstGeom>
          <a:noFill/>
        </p:spPr>
        <p:txBody>
          <a:bodyPr wrap="square">
            <a:spAutoFit/>
          </a:bodyPr>
          <a:lstStyle/>
          <a:p>
            <a:pPr marL="342900" indent="-342900" algn="just">
              <a:buFont typeface="Wingdings" panose="05000000000000000000" pitchFamily="2" charset="2"/>
              <a:buChar char="ü"/>
            </a:pPr>
            <a:r>
              <a:rPr lang="en-US" sz="2000" dirty="0"/>
              <a:t>The Finance department receives the highest total bonus (F96, 000), indicating the largest overall bonus allocation among all departments.</a:t>
            </a:r>
          </a:p>
          <a:p>
            <a:pPr marL="342900" indent="-342900" algn="just">
              <a:buFont typeface="Wingdings" panose="05000000000000000000" pitchFamily="2" charset="2"/>
              <a:buChar char="ü"/>
            </a:pPr>
            <a:r>
              <a:rPr lang="en-US" sz="2000" dirty="0"/>
              <a:t>The HR department has the lowest total bonus (57, 200), while the bonuses of other departments range from 66, 500 to र94, 000.</a:t>
            </a:r>
          </a:p>
        </p:txBody>
      </p:sp>
    </p:spTree>
    <p:extLst>
      <p:ext uri="{BB962C8B-B14F-4D97-AF65-F5344CB8AC3E}">
        <p14:creationId xmlns:p14="http://schemas.microsoft.com/office/powerpoint/2010/main" val="3488169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People Business PowerPoint Background Download | CBEditz">
            <a:extLst>
              <a:ext uri="{FF2B5EF4-FFF2-40B4-BE49-F238E27FC236}">
                <a16:creationId xmlns:a16="http://schemas.microsoft.com/office/drawing/2014/main" id="{144FDC95-D236-4709-B2C7-ED552843EB0E}"/>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EF923A-5904-4EB3-AC9C-5E7E90B286E1}"/>
              </a:ext>
            </a:extLst>
          </p:cNvPr>
          <p:cNvSpPr>
            <a:spLocks noGrp="1"/>
          </p:cNvSpPr>
          <p:nvPr>
            <p:ph type="title"/>
          </p:nvPr>
        </p:nvSpPr>
        <p:spPr>
          <a:xfrm>
            <a:off x="207204"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CHALLENGES FACED</a:t>
            </a:r>
          </a:p>
        </p:txBody>
      </p:sp>
      <p:sp>
        <p:nvSpPr>
          <p:cNvPr id="3" name="Text Placeholder 2">
            <a:extLst>
              <a:ext uri="{FF2B5EF4-FFF2-40B4-BE49-F238E27FC236}">
                <a16:creationId xmlns:a16="http://schemas.microsoft.com/office/drawing/2014/main" id="{FBC899FA-ED2D-418E-907D-5457A23855F7}"/>
              </a:ext>
            </a:extLst>
          </p:cNvPr>
          <p:cNvSpPr>
            <a:spLocks noGrp="1"/>
          </p:cNvSpPr>
          <p:nvPr>
            <p:ph type="body" idx="1"/>
          </p:nvPr>
        </p:nvSpPr>
        <p:spPr>
          <a:xfrm>
            <a:off x="288470" y="1433294"/>
            <a:ext cx="11029562" cy="5316975"/>
          </a:xfrm>
        </p:spPr>
        <p:txBody>
          <a:bodyPr>
            <a:noAutofit/>
          </a:bodyPr>
          <a:lstStyle/>
          <a:p>
            <a:pPr algn="just"/>
            <a:r>
              <a:rPr lang="en-US" sz="2400" dirty="0">
                <a:latin typeface="Times New Roman" panose="02020603050405020304" pitchFamily="18" charset="0"/>
                <a:cs typeface="Times New Roman" panose="02020603050405020304" pitchFamily="18" charset="0"/>
              </a:rPr>
              <a:t>Designed proper relationships between tables using Primary Keys and Foreign Keys.</a:t>
            </a:r>
          </a:p>
          <a:p>
            <a:pPr algn="just"/>
            <a:r>
              <a:rPr lang="en-US" sz="2400" dirty="0">
                <a:latin typeface="Times New Roman" panose="02020603050405020304" pitchFamily="18" charset="0"/>
                <a:cs typeface="Times New Roman" panose="02020603050405020304" pitchFamily="18" charset="0"/>
              </a:rPr>
              <a:t>Maintained data integrity using constraints like ON DELETE CASCADE, ON UPDATE CASCADE, and SET NULL.</a:t>
            </a:r>
          </a:p>
          <a:p>
            <a:pPr algn="just"/>
            <a:r>
              <a:rPr lang="en-US" sz="2400" dirty="0">
                <a:latin typeface="Times New Roman" panose="02020603050405020304" pitchFamily="18" charset="0"/>
                <a:cs typeface="Times New Roman" panose="02020603050405020304" pitchFamily="18" charset="0"/>
              </a:rPr>
              <a:t>Wrote complex SQL JOIN queries to retrieve data from multiple related tables.</a:t>
            </a:r>
          </a:p>
          <a:p>
            <a:pPr algn="just"/>
            <a:r>
              <a:rPr lang="en-US" sz="2400" dirty="0">
                <a:latin typeface="Times New Roman" panose="02020603050405020304" pitchFamily="18" charset="0"/>
                <a:cs typeface="Times New Roman" panose="02020603050405020304" pitchFamily="18" charset="0"/>
              </a:rPr>
              <a:t>Handled date fields in the YYYY-MM-DD format for accurate analysis.</a:t>
            </a:r>
          </a:p>
          <a:p>
            <a:pPr algn="just"/>
            <a:r>
              <a:rPr lang="en-US" sz="2400" dirty="0">
                <a:latin typeface="Times New Roman" panose="02020603050405020304" pitchFamily="18" charset="0"/>
                <a:cs typeface="Times New Roman" panose="02020603050405020304" pitchFamily="18" charset="0"/>
              </a:rPr>
              <a:t>Prevented duplicate records by applying UNIQUE constraints, especially for employee email addresses.</a:t>
            </a:r>
          </a:p>
        </p:txBody>
      </p:sp>
    </p:spTree>
    <p:extLst>
      <p:ext uri="{BB962C8B-B14F-4D97-AF65-F5344CB8AC3E}">
        <p14:creationId xmlns:p14="http://schemas.microsoft.com/office/powerpoint/2010/main" val="1647429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People Business PowerPoint Background Download | CBEditz">
            <a:extLst>
              <a:ext uri="{FF2B5EF4-FFF2-40B4-BE49-F238E27FC236}">
                <a16:creationId xmlns:a16="http://schemas.microsoft.com/office/drawing/2014/main" id="{D6F68CFF-5A9E-4116-BE99-B19E416B54B7}"/>
              </a:ext>
            </a:extLst>
          </p:cNvPr>
          <p:cNvPicPr>
            <a:picLocks noChangeAspect="1" noChangeArrowheads="1"/>
          </p:cNvPicPr>
          <p:nvPr/>
        </p:nvPicPr>
        <p:blipFill>
          <a:blip r:embed="rId2">
            <a:alphaModFix amt="22000"/>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EF923A-5904-4EB3-AC9C-5E7E90B286E1}"/>
              </a:ext>
            </a:extLst>
          </p:cNvPr>
          <p:cNvSpPr>
            <a:spLocks noGrp="1"/>
          </p:cNvSpPr>
          <p:nvPr>
            <p:ph type="title"/>
          </p:nvPr>
        </p:nvSpPr>
        <p:spPr>
          <a:xfrm>
            <a:off x="207204"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FBC899FA-ED2D-418E-907D-5457A23855F7}"/>
              </a:ext>
            </a:extLst>
          </p:cNvPr>
          <p:cNvSpPr>
            <a:spLocks noGrp="1"/>
          </p:cNvSpPr>
          <p:nvPr>
            <p:ph type="body" idx="1"/>
          </p:nvPr>
        </p:nvSpPr>
        <p:spPr>
          <a:xfrm>
            <a:off x="457200" y="1325563"/>
            <a:ext cx="10972799" cy="5138299"/>
          </a:xfrm>
        </p:spPr>
        <p:txBody>
          <a:bodyPr>
            <a:noAutofit/>
          </a:bodyPr>
          <a:lstStyle/>
          <a:p>
            <a:r>
              <a:rPr lang="en-US" sz="2400" dirty="0">
                <a:latin typeface="Times New Roman" panose="02020603050405020304" pitchFamily="18" charset="0"/>
                <a:cs typeface="Times New Roman" panose="02020603050405020304" pitchFamily="18" charset="0"/>
              </a:rPr>
              <a:t>The Employee Management System analysis provides a comprehensive view of workforce structure, salary distribution, qualifications, and payroll management within the organization.</a:t>
            </a:r>
          </a:p>
          <a:p>
            <a:r>
              <a:rPr lang="en-US" sz="2400" dirty="0">
                <a:latin typeface="Times New Roman" panose="02020603050405020304" pitchFamily="18" charset="0"/>
                <a:cs typeface="Times New Roman" panose="02020603050405020304" pitchFamily="18" charset="0"/>
              </a:rPr>
              <a:t>The analysis highlights department-wise employee distribution, salary allocation, leave patterns, and bonus structures, helping identify key workforce and financial trends.</a:t>
            </a:r>
          </a:p>
          <a:p>
            <a:r>
              <a:rPr lang="en-US" sz="2400" dirty="0">
                <a:latin typeface="Times New Roman" panose="02020603050405020304" pitchFamily="18" charset="0"/>
                <a:cs typeface="Times New Roman" panose="02020603050405020304" pitchFamily="18" charset="0"/>
              </a:rPr>
              <a:t>Insights from the data support better decision-making in HR management, payroll planning, and employee performance evaluation.</a:t>
            </a:r>
          </a:p>
          <a:p>
            <a:r>
              <a:rPr lang="en-US" sz="2400" dirty="0">
                <a:latin typeface="Times New Roman" panose="02020603050405020304" pitchFamily="18" charset="0"/>
                <a:cs typeface="Times New Roman" panose="02020603050405020304" pitchFamily="18" charset="0"/>
              </a:rPr>
              <a:t>Overall, this analysis demonstrates how SQL can be effectively used to manage and analyze employee data to support organizational efficiency and strategic planning.</a:t>
            </a:r>
          </a:p>
        </p:txBody>
      </p:sp>
    </p:spTree>
    <p:extLst>
      <p:ext uri="{BB962C8B-B14F-4D97-AF65-F5344CB8AC3E}">
        <p14:creationId xmlns:p14="http://schemas.microsoft.com/office/powerpoint/2010/main" val="1249916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alpha val="89000"/>
          </a:schemeClr>
        </a:solidFill>
        <a:effectLst/>
      </p:bgPr>
    </p:bg>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3557729" y="1792573"/>
            <a:ext cx="5076541" cy="3394953"/>
          </a:xfrm>
          <a:prstGeom prst="rect">
            <a:avLst/>
          </a:prstGeom>
          <a:noFill/>
          <a:ln>
            <a:noFill/>
          </a:ln>
        </p:spPr>
      </p:pic>
      <p:pic>
        <p:nvPicPr>
          <p:cNvPr id="4" name="Picture 3">
            <a:extLst>
              <a:ext uri="{FF2B5EF4-FFF2-40B4-BE49-F238E27FC236}">
                <a16:creationId xmlns:a16="http://schemas.microsoft.com/office/drawing/2014/main" id="{EC60027C-06F3-4A71-8197-8854CE2EA770}"/>
              </a:ext>
            </a:extLst>
          </p:cNvPr>
          <p:cNvPicPr>
            <a:picLocks noChangeAspect="1"/>
          </p:cNvPicPr>
          <p:nvPr/>
        </p:nvPicPr>
        <p:blipFill>
          <a:blip r:embed="rId4">
            <a:alphaModFix amt="84000"/>
          </a:blip>
          <a:stretch>
            <a:fillRect/>
          </a:stretch>
        </p:blipFill>
        <p:spPr>
          <a:xfrm>
            <a:off x="2508153" y="1326315"/>
            <a:ext cx="6694637" cy="40103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1232</Words>
  <Application>Microsoft Office PowerPoint</Application>
  <PresentationFormat>Widescreen</PresentationFormat>
  <Paragraphs>122</Paragraphs>
  <Slides>22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Calibri</vt:lpstr>
      <vt:lpstr>Wingdings</vt:lpstr>
      <vt:lpstr>Arial</vt:lpstr>
      <vt:lpstr>Office Theme</vt:lpstr>
      <vt:lpstr>PowerPoint Presentation</vt:lpstr>
      <vt:lpstr>PowerPoint Presentation</vt:lpstr>
      <vt:lpstr>INTRODCUTION</vt:lpstr>
      <vt:lpstr>OBJECTIVE</vt:lpstr>
      <vt:lpstr>PROBLEM STATEMENT</vt:lpstr>
      <vt:lpstr>TABLES</vt:lpstr>
      <vt:lpstr>TABLES STRUCTURES</vt:lpstr>
      <vt:lpstr>TABLES STRUCTURES</vt:lpstr>
      <vt:lpstr>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DINESH NARASIMHA REDDY</cp:lastModifiedBy>
  <cp:revision>25</cp:revision>
  <dcterms:created xsi:type="dcterms:W3CDTF">2021-02-16T05:19:01Z</dcterms:created>
  <dcterms:modified xsi:type="dcterms:W3CDTF">2026-08-13T11:01:23Z</dcterms:modified>
</cp:coreProperties>
</file>